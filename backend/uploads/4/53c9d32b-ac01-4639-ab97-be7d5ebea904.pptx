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Roboto" panose="02000000000000000000" pitchFamily="2" charset="0"/>
      <p:regular r:id="rId14"/>
      <p:bold r:id="rId15"/>
    </p:embeddedFont>
    <p:embeddedFont>
      <p:font typeface="Roboto Slab" pitchFamily="2" charset="0"/>
      <p:regular r:id="rId16"/>
    </p:embeddedFont>
    <p:embeddedFont>
      <p:font typeface="Roboto Slab Light" pitchFamily="2"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FC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67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7144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133124"/>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ProjectVault — Academic Version Control System</a:t>
            </a:r>
            <a:endParaRPr lang="en-US" sz="4450" dirty="0"/>
          </a:p>
        </p:txBody>
      </p:sp>
      <p:sp>
        <p:nvSpPr>
          <p:cNvPr id="4" name="Text 1"/>
          <p:cNvSpPr/>
          <p:nvPr/>
        </p:nvSpPr>
        <p:spPr>
          <a:xfrm>
            <a:off x="793790" y="3641407"/>
            <a:ext cx="7556421" cy="1133951"/>
          </a:xfrm>
          <a:prstGeom prst="rect">
            <a:avLst/>
          </a:prstGeom>
          <a:noFill/>
          <a:ln/>
        </p:spPr>
        <p:txBody>
          <a:bodyPr wrap="square" lIns="0" tIns="0" rIns="0" bIns="0" rtlCol="0" anchor="t"/>
          <a:lstStyle/>
          <a:p>
            <a:pPr marL="0" indent="0" algn="l">
              <a:lnSpc>
                <a:spcPts val="4450"/>
              </a:lnSpc>
              <a:buNone/>
            </a:pPr>
            <a:r>
              <a:rPr lang="en-US" sz="3550" dirty="0">
                <a:solidFill>
                  <a:srgbClr val="3257B8"/>
                </a:solidFill>
                <a:latin typeface="Roboto Slab" pitchFamily="34" charset="0"/>
                <a:ea typeface="Roboto Slab" pitchFamily="34" charset="-122"/>
                <a:cs typeface="Roboto Slab" pitchFamily="34" charset="-120"/>
              </a:rPr>
              <a:t>Simple, visual version tracking for student projects</a:t>
            </a:r>
            <a:endParaRPr lang="en-US" sz="3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74271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Problem Statement</a:t>
            </a:r>
            <a:endParaRPr lang="en-US" sz="4450" dirty="0"/>
          </a:p>
        </p:txBody>
      </p:sp>
      <p:sp>
        <p:nvSpPr>
          <p:cNvPr id="3" name="Text 1"/>
          <p:cNvSpPr/>
          <p:nvPr/>
        </p:nvSpPr>
        <p:spPr>
          <a:xfrm>
            <a:off x="793790" y="279165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01</a:t>
            </a:r>
            <a:endParaRPr lang="en-US" sz="1750" dirty="0"/>
          </a:p>
        </p:txBody>
      </p:sp>
      <p:pic>
        <p:nvPicPr>
          <p:cNvPr id="4" name="Image 0" descr="preencoded.png"/>
          <p:cNvPicPr>
            <a:picLocks noChangeAspect="1"/>
          </p:cNvPicPr>
          <p:nvPr/>
        </p:nvPicPr>
        <p:blipFill>
          <a:blip r:embed="rId3"/>
          <a:stretch>
            <a:fillRect/>
          </a:stretch>
        </p:blipFill>
        <p:spPr>
          <a:xfrm>
            <a:off x="793790" y="3146703"/>
            <a:ext cx="6407944" cy="30480"/>
          </a:xfrm>
          <a:prstGeom prst="rect">
            <a:avLst/>
          </a:prstGeom>
        </p:spPr>
      </p:pic>
      <p:sp>
        <p:nvSpPr>
          <p:cNvPr id="5" name="Text 2"/>
          <p:cNvSpPr/>
          <p:nvPr/>
        </p:nvSpPr>
        <p:spPr>
          <a:xfrm>
            <a:off x="793790" y="332101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Lost Versions</a:t>
            </a:r>
            <a:endParaRPr lang="en-US" sz="2200" dirty="0"/>
          </a:p>
        </p:txBody>
      </p:sp>
      <p:sp>
        <p:nvSpPr>
          <p:cNvPr id="6" name="Text 3"/>
          <p:cNvSpPr/>
          <p:nvPr/>
        </p:nvSpPr>
        <p:spPr>
          <a:xfrm>
            <a:off x="793790" y="3811429"/>
            <a:ext cx="6407944"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Students often lose track of project versions</a:t>
            </a:r>
            <a:endParaRPr lang="en-US" sz="1750" dirty="0"/>
          </a:p>
        </p:txBody>
      </p:sp>
      <p:sp>
        <p:nvSpPr>
          <p:cNvPr id="7" name="Text 4"/>
          <p:cNvSpPr/>
          <p:nvPr/>
        </p:nvSpPr>
        <p:spPr>
          <a:xfrm>
            <a:off x="7428548" y="279165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02</a:t>
            </a:r>
            <a:endParaRPr lang="en-US" sz="1750" dirty="0"/>
          </a:p>
        </p:txBody>
      </p:sp>
      <p:pic>
        <p:nvPicPr>
          <p:cNvPr id="8" name="Image 1" descr="preencoded.png"/>
          <p:cNvPicPr>
            <a:picLocks noChangeAspect="1"/>
          </p:cNvPicPr>
          <p:nvPr/>
        </p:nvPicPr>
        <p:blipFill>
          <a:blip r:embed="rId3"/>
          <a:stretch>
            <a:fillRect/>
          </a:stretch>
        </p:blipFill>
        <p:spPr>
          <a:xfrm>
            <a:off x="7428548" y="3146703"/>
            <a:ext cx="6408063" cy="30480"/>
          </a:xfrm>
          <a:prstGeom prst="rect">
            <a:avLst/>
          </a:prstGeom>
        </p:spPr>
      </p:pic>
      <p:sp>
        <p:nvSpPr>
          <p:cNvPr id="9" name="Text 5"/>
          <p:cNvSpPr/>
          <p:nvPr/>
        </p:nvSpPr>
        <p:spPr>
          <a:xfrm>
            <a:off x="7428548" y="332101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Too Complex</a:t>
            </a:r>
            <a:endParaRPr lang="en-US" sz="2200" dirty="0"/>
          </a:p>
        </p:txBody>
      </p:sp>
      <p:sp>
        <p:nvSpPr>
          <p:cNvPr id="10" name="Text 6"/>
          <p:cNvSpPr/>
          <p:nvPr/>
        </p:nvSpPr>
        <p:spPr>
          <a:xfrm>
            <a:off x="7428548" y="3811429"/>
            <a:ext cx="6408063"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GitHub is too complex for non-CS users</a:t>
            </a:r>
            <a:endParaRPr lang="en-US" sz="1750" dirty="0"/>
          </a:p>
        </p:txBody>
      </p:sp>
      <p:sp>
        <p:nvSpPr>
          <p:cNvPr id="11" name="Text 7"/>
          <p:cNvSpPr/>
          <p:nvPr/>
        </p:nvSpPr>
        <p:spPr>
          <a:xfrm>
            <a:off x="793790" y="457116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03</a:t>
            </a:r>
            <a:endParaRPr lang="en-US" sz="1750" dirty="0"/>
          </a:p>
        </p:txBody>
      </p:sp>
      <p:pic>
        <p:nvPicPr>
          <p:cNvPr id="12" name="Image 2" descr="preencoded.png"/>
          <p:cNvPicPr>
            <a:picLocks noChangeAspect="1"/>
          </p:cNvPicPr>
          <p:nvPr/>
        </p:nvPicPr>
        <p:blipFill>
          <a:blip r:embed="rId3"/>
          <a:stretch>
            <a:fillRect/>
          </a:stretch>
        </p:blipFill>
        <p:spPr>
          <a:xfrm>
            <a:off x="793790" y="4903589"/>
            <a:ext cx="6407944" cy="30480"/>
          </a:xfrm>
          <a:prstGeom prst="rect">
            <a:avLst/>
          </a:prstGeom>
        </p:spPr>
      </p:pic>
      <p:sp>
        <p:nvSpPr>
          <p:cNvPr id="13" name="Text 8"/>
          <p:cNvSpPr/>
          <p:nvPr/>
        </p:nvSpPr>
        <p:spPr>
          <a:xfrm>
            <a:off x="793790" y="510051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Limited Features</a:t>
            </a:r>
            <a:endParaRPr lang="en-US" sz="2200" dirty="0"/>
          </a:p>
        </p:txBody>
      </p:sp>
      <p:sp>
        <p:nvSpPr>
          <p:cNvPr id="14" name="Text 9"/>
          <p:cNvSpPr/>
          <p:nvPr/>
        </p:nvSpPr>
        <p:spPr>
          <a:xfrm>
            <a:off x="793790" y="5590937"/>
            <a:ext cx="6407944"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Google Drive/Dropbox lack structured rollback</a:t>
            </a:r>
            <a:endParaRPr lang="en-US" sz="1750" dirty="0"/>
          </a:p>
        </p:txBody>
      </p:sp>
      <p:sp>
        <p:nvSpPr>
          <p:cNvPr id="15" name="Text 10"/>
          <p:cNvSpPr/>
          <p:nvPr/>
        </p:nvSpPr>
        <p:spPr>
          <a:xfrm>
            <a:off x="7428548" y="4571167"/>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04</a:t>
            </a:r>
            <a:endParaRPr lang="en-US" sz="1750" dirty="0"/>
          </a:p>
        </p:txBody>
      </p:sp>
      <p:pic>
        <p:nvPicPr>
          <p:cNvPr id="16" name="Image 3" descr="preencoded.png"/>
          <p:cNvPicPr>
            <a:picLocks noChangeAspect="1"/>
          </p:cNvPicPr>
          <p:nvPr/>
        </p:nvPicPr>
        <p:blipFill>
          <a:blip r:embed="rId3"/>
          <a:stretch>
            <a:fillRect/>
          </a:stretch>
        </p:blipFill>
        <p:spPr>
          <a:xfrm>
            <a:off x="7428548" y="4903589"/>
            <a:ext cx="6408063" cy="30480"/>
          </a:xfrm>
          <a:prstGeom prst="rect">
            <a:avLst/>
          </a:prstGeom>
        </p:spPr>
      </p:pic>
      <p:sp>
        <p:nvSpPr>
          <p:cNvPr id="17" name="Text 11"/>
          <p:cNvSpPr/>
          <p:nvPr/>
        </p:nvSpPr>
        <p:spPr>
          <a:xfrm>
            <a:off x="7428548" y="510051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Missing Solution</a:t>
            </a:r>
            <a:endParaRPr lang="en-US" sz="2200" dirty="0"/>
          </a:p>
        </p:txBody>
      </p:sp>
      <p:sp>
        <p:nvSpPr>
          <p:cNvPr id="18" name="Text 12"/>
          <p:cNvSpPr/>
          <p:nvPr/>
        </p:nvSpPr>
        <p:spPr>
          <a:xfrm>
            <a:off x="7428548" y="5590937"/>
            <a:ext cx="6408063" cy="725805"/>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No platform exists that is made for academic project versioning with rollback and timeline</a:t>
            </a:r>
            <a:endParaRPr lang="en-US" sz="1750" dirty="0"/>
          </a:p>
        </p:txBody>
      </p:sp>
      <p:sp>
        <p:nvSpPr>
          <p:cNvPr id="19" name="Rectangle 18">
            <a:extLst>
              <a:ext uri="{FF2B5EF4-FFF2-40B4-BE49-F238E27FC236}">
                <a16:creationId xmlns:a16="http://schemas.microsoft.com/office/drawing/2014/main" id="{BF76AFF0-28DE-5FFE-AB5D-9CBBA6715BBE}"/>
              </a:ext>
            </a:extLst>
          </p:cNvPr>
          <p:cNvSpPr/>
          <p:nvPr/>
        </p:nvSpPr>
        <p:spPr>
          <a:xfrm>
            <a:off x="12881113" y="7765774"/>
            <a:ext cx="1656522" cy="362903"/>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96873" y="965954"/>
            <a:ext cx="8388072" cy="599480"/>
          </a:xfrm>
          <a:prstGeom prst="rect">
            <a:avLst/>
          </a:prstGeom>
          <a:noFill/>
          <a:ln/>
        </p:spPr>
        <p:txBody>
          <a:bodyPr wrap="none" lIns="0" tIns="0" rIns="0" bIns="0" rtlCol="0" anchor="t"/>
          <a:lstStyle/>
          <a:p>
            <a:pPr marL="0" indent="0" algn="l">
              <a:lnSpc>
                <a:spcPts val="4700"/>
              </a:lnSpc>
              <a:buNone/>
            </a:pPr>
            <a:r>
              <a:rPr lang="en-US" sz="3750" dirty="0">
                <a:solidFill>
                  <a:srgbClr val="3257B8"/>
                </a:solidFill>
                <a:latin typeface="Roboto Slab" pitchFamily="34" charset="0"/>
                <a:ea typeface="Roboto Slab" pitchFamily="34" charset="-122"/>
                <a:cs typeface="Roboto Slab" pitchFamily="34" charset="-120"/>
              </a:rPr>
              <a:t>Market Research &amp; Literature Review</a:t>
            </a:r>
            <a:endParaRPr lang="en-US" sz="3750" dirty="0"/>
          </a:p>
        </p:txBody>
      </p:sp>
      <p:sp>
        <p:nvSpPr>
          <p:cNvPr id="3" name="Text 1"/>
          <p:cNvSpPr/>
          <p:nvPr/>
        </p:nvSpPr>
        <p:spPr>
          <a:xfrm>
            <a:off x="696873" y="1970842"/>
            <a:ext cx="2397919" cy="299680"/>
          </a:xfrm>
          <a:prstGeom prst="rect">
            <a:avLst/>
          </a:prstGeom>
          <a:noFill/>
          <a:ln/>
        </p:spPr>
        <p:txBody>
          <a:bodyPr wrap="none" lIns="0" tIns="0" rIns="0" bIns="0" rtlCol="0" anchor="t"/>
          <a:lstStyle/>
          <a:p>
            <a:pPr marL="0" indent="0" algn="l">
              <a:lnSpc>
                <a:spcPts val="2350"/>
              </a:lnSpc>
              <a:buNone/>
            </a:pPr>
            <a:r>
              <a:rPr lang="en-US" sz="1850" dirty="0">
                <a:solidFill>
                  <a:srgbClr val="3257B8"/>
                </a:solidFill>
                <a:latin typeface="Roboto Slab" pitchFamily="34" charset="0"/>
                <a:ea typeface="Roboto Slab" pitchFamily="34" charset="-122"/>
                <a:cs typeface="Roboto Slab" pitchFamily="34" charset="-120"/>
              </a:rPr>
              <a:t>Platforms Reviewed</a:t>
            </a:r>
            <a:endParaRPr lang="en-US" sz="1850" dirty="0"/>
          </a:p>
        </p:txBody>
      </p:sp>
      <p:sp>
        <p:nvSpPr>
          <p:cNvPr id="4" name="Text 2"/>
          <p:cNvSpPr/>
          <p:nvPr/>
        </p:nvSpPr>
        <p:spPr>
          <a:xfrm>
            <a:off x="696873" y="2432685"/>
            <a:ext cx="4328636" cy="3682407"/>
          </a:xfrm>
          <a:prstGeom prst="rect">
            <a:avLst/>
          </a:prstGeom>
          <a:noFill/>
          <a:ln/>
        </p:spPr>
        <p:txBody>
          <a:bodyPr wrap="square" lIns="0" tIns="0" rIns="0" bIns="0" rtlCol="0" anchor="t"/>
          <a:lstStyle/>
          <a:p>
            <a:pPr marL="342900" indent="-342900" algn="l">
              <a:lnSpc>
                <a:spcPts val="2200"/>
              </a:lnSpc>
              <a:buSzPct val="100000"/>
              <a:buChar char="•"/>
            </a:pPr>
            <a:r>
              <a:rPr lang="en-US" sz="1500" dirty="0">
                <a:solidFill>
                  <a:srgbClr val="15213F"/>
                </a:solidFill>
                <a:latin typeface="Roboto" pitchFamily="34" charset="0"/>
                <a:ea typeface="Roboto" pitchFamily="34" charset="-122"/>
                <a:cs typeface="Roboto" pitchFamily="34" charset="-120"/>
              </a:rPr>
              <a:t>GitHub</a:t>
            </a:r>
            <a:endParaRPr lang="en-US" sz="1500" dirty="0"/>
          </a:p>
          <a:p>
            <a:pPr marL="342900" indent="-342900" algn="l">
              <a:lnSpc>
                <a:spcPts val="2200"/>
              </a:lnSpc>
              <a:buSzPct val="100000"/>
              <a:buChar char="•"/>
            </a:pPr>
            <a:r>
              <a:rPr lang="en-US" sz="1500" dirty="0">
                <a:solidFill>
                  <a:srgbClr val="15213F"/>
                </a:solidFill>
                <a:latin typeface="Roboto" pitchFamily="34" charset="0"/>
                <a:ea typeface="Roboto" pitchFamily="34" charset="-122"/>
                <a:cs typeface="Roboto" pitchFamily="34" charset="-120"/>
              </a:rPr>
              <a:t>GitLab</a:t>
            </a:r>
            <a:endParaRPr lang="en-US" sz="1500" dirty="0"/>
          </a:p>
          <a:p>
            <a:pPr marL="342900" indent="-342900" algn="l">
              <a:lnSpc>
                <a:spcPts val="2200"/>
              </a:lnSpc>
              <a:buSzPct val="100000"/>
              <a:buChar char="•"/>
            </a:pPr>
            <a:r>
              <a:rPr lang="en-US" sz="1500" dirty="0">
                <a:solidFill>
                  <a:srgbClr val="15213F"/>
                </a:solidFill>
                <a:latin typeface="Roboto" pitchFamily="34" charset="0"/>
                <a:ea typeface="Roboto" pitchFamily="34" charset="-122"/>
                <a:cs typeface="Roboto" pitchFamily="34" charset="-120"/>
              </a:rPr>
              <a:t>Google Drive</a:t>
            </a:r>
            <a:endParaRPr lang="en-US" sz="1500" dirty="0"/>
          </a:p>
          <a:p>
            <a:pPr marL="342900" indent="-342900" algn="l">
              <a:lnSpc>
                <a:spcPts val="2200"/>
              </a:lnSpc>
              <a:buSzPct val="100000"/>
              <a:buChar char="•"/>
            </a:pPr>
            <a:r>
              <a:rPr lang="en-US" sz="1500" dirty="0">
                <a:solidFill>
                  <a:srgbClr val="15213F"/>
                </a:solidFill>
                <a:latin typeface="Roboto" pitchFamily="34" charset="0"/>
                <a:ea typeface="Roboto" pitchFamily="34" charset="-122"/>
                <a:cs typeface="Roboto" pitchFamily="34" charset="-120"/>
              </a:rPr>
              <a:t>Dropbox</a:t>
            </a:r>
            <a:endParaRPr lang="en-US" sz="1500" dirty="0"/>
          </a:p>
          <a:p>
            <a:pPr marL="342900" indent="-342900" algn="l">
              <a:lnSpc>
                <a:spcPts val="2200"/>
              </a:lnSpc>
              <a:buSzPct val="100000"/>
              <a:buChar char="•"/>
            </a:pPr>
            <a:r>
              <a:rPr lang="en-US" sz="1500" dirty="0">
                <a:solidFill>
                  <a:srgbClr val="15213F"/>
                </a:solidFill>
                <a:latin typeface="Roboto" pitchFamily="34" charset="0"/>
                <a:ea typeface="Roboto" pitchFamily="34" charset="-122"/>
                <a:cs typeface="Roboto" pitchFamily="34" charset="-120"/>
              </a:rPr>
              <a:t>Notion</a:t>
            </a:r>
            <a:endParaRPr lang="en-US" sz="1500" dirty="0"/>
          </a:p>
          <a:p>
            <a:pPr marL="342900" indent="-342900" algn="l">
              <a:lnSpc>
                <a:spcPts val="2200"/>
              </a:lnSpc>
              <a:buSzPct val="100000"/>
              <a:buChar char="•"/>
            </a:pPr>
            <a:r>
              <a:rPr lang="en-US" sz="1500" dirty="0">
                <a:solidFill>
                  <a:srgbClr val="15213F"/>
                </a:solidFill>
                <a:latin typeface="Roboto" pitchFamily="34" charset="0"/>
                <a:ea typeface="Roboto" pitchFamily="34" charset="-122"/>
                <a:cs typeface="Roboto" pitchFamily="34" charset="-120"/>
              </a:rPr>
              <a:t>Word</a:t>
            </a:r>
            <a:endParaRPr lang="en-US" sz="1500" dirty="0"/>
          </a:p>
          <a:p>
            <a:pPr marL="342900" indent="-342900" algn="l">
              <a:lnSpc>
                <a:spcPts val="2200"/>
              </a:lnSpc>
              <a:buSzPct val="100000"/>
              <a:buChar char="•"/>
            </a:pPr>
            <a:r>
              <a:rPr lang="en-US" sz="1500" dirty="0">
                <a:solidFill>
                  <a:srgbClr val="15213F"/>
                </a:solidFill>
                <a:latin typeface="Roboto" pitchFamily="34" charset="0"/>
                <a:ea typeface="Roboto" pitchFamily="34" charset="-122"/>
                <a:cs typeface="Roboto" pitchFamily="34" charset="-120"/>
              </a:rPr>
              <a:t>Overleaf</a:t>
            </a:r>
            <a:endParaRPr lang="en-US" sz="1500" dirty="0"/>
          </a:p>
          <a:p>
            <a:pPr marL="342900" indent="-342900" algn="l">
              <a:lnSpc>
                <a:spcPts val="2200"/>
              </a:lnSpc>
              <a:buSzPct val="100000"/>
              <a:buChar char="•"/>
            </a:pPr>
            <a:r>
              <a:rPr lang="en-US" sz="1500" dirty="0">
                <a:solidFill>
                  <a:srgbClr val="15213F"/>
                </a:solidFill>
                <a:latin typeface="Roboto" pitchFamily="34" charset="0"/>
                <a:ea typeface="Roboto" pitchFamily="34" charset="-122"/>
                <a:cs typeface="Roboto" pitchFamily="34" charset="-120"/>
              </a:rPr>
              <a:t>ProjectBuddy</a:t>
            </a:r>
            <a:endParaRPr lang="en-US" sz="1500" dirty="0"/>
          </a:p>
          <a:p>
            <a:pPr marL="342900" indent="-342900" algn="l">
              <a:lnSpc>
                <a:spcPts val="2200"/>
              </a:lnSpc>
              <a:buSzPct val="100000"/>
              <a:buChar char="•"/>
            </a:pPr>
            <a:r>
              <a:rPr lang="en-US" sz="1500" dirty="0">
                <a:solidFill>
                  <a:srgbClr val="15213F"/>
                </a:solidFill>
                <a:latin typeface="Roboto" pitchFamily="34" charset="0"/>
                <a:ea typeface="Roboto" pitchFamily="34" charset="-122"/>
                <a:cs typeface="Roboto" pitchFamily="34" charset="-120"/>
              </a:rPr>
              <a:t>TimeTravel</a:t>
            </a:r>
            <a:endParaRPr lang="en-US" sz="1500" dirty="0"/>
          </a:p>
          <a:p>
            <a:pPr marL="342900" indent="-342900" algn="l">
              <a:lnSpc>
                <a:spcPts val="2200"/>
              </a:lnSpc>
              <a:buSzPct val="100000"/>
              <a:buChar char="•"/>
            </a:pPr>
            <a:r>
              <a:rPr lang="en-US" sz="1500" dirty="0">
                <a:solidFill>
                  <a:srgbClr val="15213F"/>
                </a:solidFill>
                <a:latin typeface="Roboto" pitchFamily="34" charset="0"/>
                <a:ea typeface="Roboto" pitchFamily="34" charset="-122"/>
                <a:cs typeface="Roboto" pitchFamily="34" charset="-120"/>
              </a:rPr>
              <a:t>Docu-Pile</a:t>
            </a:r>
            <a:endParaRPr lang="en-US" sz="1500" dirty="0"/>
          </a:p>
          <a:p>
            <a:pPr marL="342900" indent="-342900" algn="l">
              <a:lnSpc>
                <a:spcPts val="2200"/>
              </a:lnSpc>
              <a:buSzPct val="100000"/>
              <a:buChar char="•"/>
            </a:pPr>
            <a:r>
              <a:rPr lang="en-US" sz="1500" dirty="0">
                <a:solidFill>
                  <a:srgbClr val="15213F"/>
                </a:solidFill>
                <a:latin typeface="Roboto" pitchFamily="34" charset="0"/>
                <a:ea typeface="Roboto" pitchFamily="34" charset="-122"/>
                <a:cs typeface="Roboto" pitchFamily="34" charset="-120"/>
              </a:rPr>
              <a:t>Shapehub</a:t>
            </a:r>
            <a:endParaRPr lang="en-US" sz="1500" dirty="0"/>
          </a:p>
          <a:p>
            <a:pPr marL="342900" indent="-342900" algn="l">
              <a:lnSpc>
                <a:spcPts val="2200"/>
              </a:lnSpc>
              <a:buSzPct val="100000"/>
              <a:buChar char="•"/>
            </a:pPr>
            <a:r>
              <a:rPr lang="en-US" sz="1500" dirty="0">
                <a:solidFill>
                  <a:srgbClr val="15213F"/>
                </a:solidFill>
                <a:latin typeface="Roboto" pitchFamily="34" charset="0"/>
                <a:ea typeface="Roboto" pitchFamily="34" charset="-122"/>
                <a:cs typeface="Roboto" pitchFamily="34" charset="-120"/>
              </a:rPr>
              <a:t>Freedcamp</a:t>
            </a:r>
            <a:endParaRPr lang="en-US" sz="1500" dirty="0"/>
          </a:p>
          <a:p>
            <a:pPr marL="342900" indent="-342900" algn="l">
              <a:lnSpc>
                <a:spcPts val="2200"/>
              </a:lnSpc>
              <a:buSzPct val="100000"/>
              <a:buChar char="•"/>
            </a:pPr>
            <a:r>
              <a:rPr lang="en-US" sz="1500" dirty="0">
                <a:solidFill>
                  <a:srgbClr val="15213F"/>
                </a:solidFill>
                <a:latin typeface="Roboto" pitchFamily="34" charset="0"/>
                <a:ea typeface="Roboto" pitchFamily="34" charset="-122"/>
                <a:cs typeface="Roboto" pitchFamily="34" charset="-120"/>
              </a:rPr>
              <a:t>Google Docs</a:t>
            </a:r>
            <a:endParaRPr lang="en-US" sz="1500" dirty="0"/>
          </a:p>
        </p:txBody>
      </p:sp>
      <p:sp>
        <p:nvSpPr>
          <p:cNvPr id="5" name="Text 3"/>
          <p:cNvSpPr/>
          <p:nvPr/>
        </p:nvSpPr>
        <p:spPr>
          <a:xfrm>
            <a:off x="5501045" y="1970842"/>
            <a:ext cx="2397919" cy="299680"/>
          </a:xfrm>
          <a:prstGeom prst="rect">
            <a:avLst/>
          </a:prstGeom>
          <a:noFill/>
          <a:ln/>
        </p:spPr>
        <p:txBody>
          <a:bodyPr wrap="none" lIns="0" tIns="0" rIns="0" bIns="0" rtlCol="0" anchor="t"/>
          <a:lstStyle/>
          <a:p>
            <a:pPr marL="0" indent="0" algn="l">
              <a:lnSpc>
                <a:spcPts val="2350"/>
              </a:lnSpc>
              <a:buNone/>
            </a:pPr>
            <a:r>
              <a:rPr lang="en-US" sz="1850" dirty="0">
                <a:solidFill>
                  <a:srgbClr val="3257B8"/>
                </a:solidFill>
                <a:latin typeface="Roboto Slab" pitchFamily="34" charset="0"/>
                <a:ea typeface="Roboto Slab" pitchFamily="34" charset="-122"/>
                <a:cs typeface="Roboto Slab" pitchFamily="34" charset="-120"/>
              </a:rPr>
              <a:t>Key Finding</a:t>
            </a:r>
            <a:endParaRPr lang="en-US" sz="1850" dirty="0"/>
          </a:p>
        </p:txBody>
      </p:sp>
      <p:sp>
        <p:nvSpPr>
          <p:cNvPr id="6" name="Text 4"/>
          <p:cNvSpPr/>
          <p:nvPr/>
        </p:nvSpPr>
        <p:spPr>
          <a:xfrm>
            <a:off x="5501045" y="2432685"/>
            <a:ext cx="8439983" cy="566261"/>
          </a:xfrm>
          <a:prstGeom prst="rect">
            <a:avLst/>
          </a:prstGeom>
          <a:noFill/>
          <a:ln/>
        </p:spPr>
        <p:txBody>
          <a:bodyPr wrap="square" lIns="0" tIns="0" rIns="0" bIns="0" rtlCol="0" anchor="t"/>
          <a:lstStyle/>
          <a:p>
            <a:pPr marL="0" indent="0" algn="l">
              <a:lnSpc>
                <a:spcPts val="2200"/>
              </a:lnSpc>
              <a:buNone/>
            </a:pPr>
            <a:r>
              <a:rPr lang="en-US" sz="1500" dirty="0">
                <a:solidFill>
                  <a:srgbClr val="15213F"/>
                </a:solidFill>
                <a:latin typeface="Roboto" pitchFamily="34" charset="0"/>
                <a:ea typeface="Roboto" pitchFamily="34" charset="-122"/>
                <a:cs typeface="Roboto" pitchFamily="34" charset="-120"/>
              </a:rPr>
              <a:t>Despite a wide array of existing collaboration and version control tools, a significant gap remains in the academic project management landscape.</a:t>
            </a:r>
            <a:endParaRPr lang="en-US" sz="1500" dirty="0"/>
          </a:p>
        </p:txBody>
      </p:sp>
      <p:sp>
        <p:nvSpPr>
          <p:cNvPr id="7" name="Text 5"/>
          <p:cNvSpPr/>
          <p:nvPr/>
        </p:nvSpPr>
        <p:spPr>
          <a:xfrm>
            <a:off x="5501045" y="3144917"/>
            <a:ext cx="8439983" cy="1698784"/>
          </a:xfrm>
          <a:prstGeom prst="rect">
            <a:avLst/>
          </a:prstGeom>
          <a:noFill/>
          <a:ln/>
        </p:spPr>
        <p:txBody>
          <a:bodyPr wrap="square" lIns="0" tIns="0" rIns="0" bIns="0" rtlCol="0" anchor="t"/>
          <a:lstStyle/>
          <a:p>
            <a:pPr marL="0" indent="0" algn="l">
              <a:lnSpc>
                <a:spcPts val="2200"/>
              </a:lnSpc>
              <a:buNone/>
            </a:pPr>
            <a:r>
              <a:rPr lang="en-US" sz="1500" dirty="0">
                <a:solidFill>
                  <a:srgbClr val="15213F"/>
                </a:solidFill>
                <a:latin typeface="Roboto" pitchFamily="34" charset="0"/>
                <a:ea typeface="Roboto" pitchFamily="34" charset="-122"/>
                <a:cs typeface="Roboto" pitchFamily="34" charset="-120"/>
              </a:rPr>
              <a:t>Platforms like GitHub and GitLab excel in robust code versioning and developer collaboration, offering intricate branch management and merge conflict resolution. Cloud storage solutions such as Google Drive and Dropbox provide easy file sharing, basic version history, and real-time document collaboration. Project management tools like Notion or academic specific platforms like Overleaf offer organizational features, content creation, and sometimes specialized academic formatting.</a:t>
            </a:r>
            <a:endParaRPr lang="en-US" sz="1500" dirty="0"/>
          </a:p>
        </p:txBody>
      </p:sp>
      <p:sp>
        <p:nvSpPr>
          <p:cNvPr id="8" name="Text 6"/>
          <p:cNvSpPr/>
          <p:nvPr/>
        </p:nvSpPr>
        <p:spPr>
          <a:xfrm>
            <a:off x="5501045" y="4989671"/>
            <a:ext cx="8439983" cy="1132523"/>
          </a:xfrm>
          <a:prstGeom prst="rect">
            <a:avLst/>
          </a:prstGeom>
          <a:noFill/>
          <a:ln/>
        </p:spPr>
        <p:txBody>
          <a:bodyPr wrap="square" lIns="0" tIns="0" rIns="0" bIns="0" rtlCol="0" anchor="t"/>
          <a:lstStyle/>
          <a:p>
            <a:pPr marL="0" indent="0" algn="l">
              <a:lnSpc>
                <a:spcPts val="2200"/>
              </a:lnSpc>
              <a:buNone/>
            </a:pPr>
            <a:r>
              <a:rPr lang="en-US" sz="1500" dirty="0">
                <a:solidFill>
                  <a:srgbClr val="15213F"/>
                </a:solidFill>
                <a:latin typeface="Roboto" pitchFamily="34" charset="0"/>
                <a:ea typeface="Roboto" pitchFamily="34" charset="-122"/>
                <a:cs typeface="Roboto" pitchFamily="34" charset="-120"/>
              </a:rPr>
              <a:t>However, none of these platforms comprehensively integrate the specific needs of academic project versioning: a user-friendly, structured rollback system, coupled with an intuitive visual timeline for non-CS students handling diverse project types (e.g., essays, research papers, design projects, data analysis).</a:t>
            </a:r>
            <a:endParaRPr lang="en-US" sz="1500" dirty="0"/>
          </a:p>
        </p:txBody>
      </p:sp>
      <p:sp>
        <p:nvSpPr>
          <p:cNvPr id="9" name="Text 7"/>
          <p:cNvSpPr/>
          <p:nvPr/>
        </p:nvSpPr>
        <p:spPr>
          <a:xfrm>
            <a:off x="5501045" y="6306203"/>
            <a:ext cx="8439983" cy="849392"/>
          </a:xfrm>
          <a:prstGeom prst="rect">
            <a:avLst/>
          </a:prstGeom>
          <a:noFill/>
          <a:ln/>
        </p:spPr>
        <p:txBody>
          <a:bodyPr wrap="square" lIns="0" tIns="0" rIns="0" bIns="0" rtlCol="0" anchor="t"/>
          <a:lstStyle/>
          <a:p>
            <a:pPr marL="0" indent="0" algn="l">
              <a:lnSpc>
                <a:spcPts val="2200"/>
              </a:lnSpc>
              <a:buNone/>
            </a:pPr>
            <a:r>
              <a:rPr lang="en-US" sz="1500" dirty="0">
                <a:solidFill>
                  <a:srgbClr val="15213F"/>
                </a:solidFill>
                <a:latin typeface="Roboto" pitchFamily="34" charset="0"/>
                <a:ea typeface="Roboto" pitchFamily="34" charset="-122"/>
                <a:cs typeface="Roboto" pitchFamily="34" charset="-120"/>
              </a:rPr>
              <a:t>This fragmentation creates a unique opportunity for ProjectVault to emerge as the dedicated solution, offering an integrated, academic-centric platform that simplifies complex version control into an accessible and visually clear workflow.</a:t>
            </a:r>
            <a:endParaRPr lang="en-US" sz="1500" dirty="0"/>
          </a:p>
        </p:txBody>
      </p:sp>
      <p:sp>
        <p:nvSpPr>
          <p:cNvPr id="10" name="Rectangle 9">
            <a:extLst>
              <a:ext uri="{FF2B5EF4-FFF2-40B4-BE49-F238E27FC236}">
                <a16:creationId xmlns:a16="http://schemas.microsoft.com/office/drawing/2014/main" id="{61AC6F8D-1D1D-09BE-BBC7-C962EC94EAA7}"/>
              </a:ext>
            </a:extLst>
          </p:cNvPr>
          <p:cNvSpPr/>
          <p:nvPr/>
        </p:nvSpPr>
        <p:spPr>
          <a:xfrm>
            <a:off x="12881113" y="7765774"/>
            <a:ext cx="1656522" cy="362903"/>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99267"/>
            <a:ext cx="6703814"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Our Research Conclusion</a:t>
            </a:r>
            <a:endParaRPr lang="en-US" sz="4450" dirty="0"/>
          </a:p>
        </p:txBody>
      </p:sp>
      <p:sp>
        <p:nvSpPr>
          <p:cNvPr id="3" name="Text 1"/>
          <p:cNvSpPr/>
          <p:nvPr/>
        </p:nvSpPr>
        <p:spPr>
          <a:xfrm>
            <a:off x="793790" y="1961674"/>
            <a:ext cx="13042821" cy="453509"/>
          </a:xfrm>
          <a:prstGeom prst="rect">
            <a:avLst/>
          </a:prstGeom>
          <a:noFill/>
          <a:ln/>
        </p:spPr>
        <p:txBody>
          <a:bodyPr wrap="none" lIns="0" tIns="0" rIns="0" bIns="0" rtlCol="0" anchor="t"/>
          <a:lstStyle/>
          <a:p>
            <a:pPr marL="0" indent="0" algn="l">
              <a:lnSpc>
                <a:spcPts val="3550"/>
              </a:lnSpc>
              <a:buNone/>
            </a:pPr>
            <a:r>
              <a:rPr lang="en-US" sz="2200" dirty="0">
                <a:solidFill>
                  <a:srgbClr val="15213F"/>
                </a:solidFill>
                <a:latin typeface="Roboto" pitchFamily="34" charset="0"/>
                <a:ea typeface="Roboto" pitchFamily="34" charset="-122"/>
                <a:cs typeface="Roboto" pitchFamily="34" charset="-120"/>
              </a:rPr>
              <a:t>After deep feature analysis, </a:t>
            </a:r>
            <a:r>
              <a:rPr lang="en-US" sz="2200" b="1" dirty="0">
                <a:solidFill>
                  <a:srgbClr val="3257B8"/>
                </a:solidFill>
                <a:latin typeface="Roboto" pitchFamily="34" charset="0"/>
                <a:ea typeface="Roboto" pitchFamily="34" charset="-122"/>
                <a:cs typeface="Roboto" pitchFamily="34" charset="-120"/>
              </a:rPr>
              <a:t>no single platform matches our system exactly</a:t>
            </a:r>
            <a:endParaRPr lang="en-US" sz="2200" dirty="0"/>
          </a:p>
        </p:txBody>
      </p:sp>
      <p:sp>
        <p:nvSpPr>
          <p:cNvPr id="4" name="Shape 2"/>
          <p:cNvSpPr/>
          <p:nvPr/>
        </p:nvSpPr>
        <p:spPr>
          <a:xfrm>
            <a:off x="793790" y="2670334"/>
            <a:ext cx="4196358" cy="1730812"/>
          </a:xfrm>
          <a:prstGeom prst="roundRect">
            <a:avLst>
              <a:gd name="adj" fmla="val 8453"/>
            </a:avLst>
          </a:prstGeom>
          <a:solidFill>
            <a:srgbClr val="FBFCFE"/>
          </a:solidFill>
          <a:ln w="30480">
            <a:solidFill>
              <a:srgbClr val="CFD2D8"/>
            </a:solidFill>
            <a:prstDash val="solid"/>
          </a:ln>
        </p:spPr>
      </p:sp>
      <p:pic>
        <p:nvPicPr>
          <p:cNvPr id="5" name="Image 0" descr="preencoded.png"/>
          <p:cNvPicPr>
            <a:picLocks noChangeAspect="1"/>
          </p:cNvPicPr>
          <p:nvPr/>
        </p:nvPicPr>
        <p:blipFill>
          <a:blip r:embed="rId3"/>
          <a:stretch>
            <a:fillRect/>
          </a:stretch>
        </p:blipFill>
        <p:spPr>
          <a:xfrm>
            <a:off x="763310" y="2670334"/>
            <a:ext cx="121920" cy="1730812"/>
          </a:xfrm>
          <a:prstGeom prst="rect">
            <a:avLst/>
          </a:prstGeom>
        </p:spPr>
      </p:pic>
      <p:sp>
        <p:nvSpPr>
          <p:cNvPr id="6" name="Text 3"/>
          <p:cNvSpPr/>
          <p:nvPr/>
        </p:nvSpPr>
        <p:spPr>
          <a:xfrm>
            <a:off x="1142524" y="292762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GitHub</a:t>
            </a:r>
            <a:endParaRPr lang="en-US" sz="2200" dirty="0"/>
          </a:p>
        </p:txBody>
      </p:sp>
      <p:sp>
        <p:nvSpPr>
          <p:cNvPr id="7" name="Text 4"/>
          <p:cNvSpPr/>
          <p:nvPr/>
        </p:nvSpPr>
        <p:spPr>
          <a:xfrm>
            <a:off x="1142524" y="3418046"/>
            <a:ext cx="3590330" cy="725805"/>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Developer-focused, no visual rollback, too complex</a:t>
            </a:r>
            <a:endParaRPr lang="en-US" sz="1750" dirty="0"/>
          </a:p>
        </p:txBody>
      </p:sp>
      <p:sp>
        <p:nvSpPr>
          <p:cNvPr id="8" name="Shape 5"/>
          <p:cNvSpPr/>
          <p:nvPr/>
        </p:nvSpPr>
        <p:spPr>
          <a:xfrm>
            <a:off x="5216962" y="2670334"/>
            <a:ext cx="4196358" cy="1730812"/>
          </a:xfrm>
          <a:prstGeom prst="roundRect">
            <a:avLst>
              <a:gd name="adj" fmla="val 8453"/>
            </a:avLst>
          </a:prstGeom>
          <a:solidFill>
            <a:srgbClr val="FBFCFE"/>
          </a:solidFill>
          <a:ln w="30480">
            <a:solidFill>
              <a:srgbClr val="CFD2D8"/>
            </a:solidFill>
            <a:prstDash val="solid"/>
          </a:ln>
        </p:spPr>
      </p:sp>
      <p:pic>
        <p:nvPicPr>
          <p:cNvPr id="9" name="Image 1" descr="preencoded.png"/>
          <p:cNvPicPr>
            <a:picLocks noChangeAspect="1"/>
          </p:cNvPicPr>
          <p:nvPr/>
        </p:nvPicPr>
        <p:blipFill>
          <a:blip r:embed="rId3"/>
          <a:stretch>
            <a:fillRect/>
          </a:stretch>
        </p:blipFill>
        <p:spPr>
          <a:xfrm>
            <a:off x="5186482" y="2670334"/>
            <a:ext cx="121920" cy="1730812"/>
          </a:xfrm>
          <a:prstGeom prst="rect">
            <a:avLst/>
          </a:prstGeom>
        </p:spPr>
      </p:pic>
      <p:sp>
        <p:nvSpPr>
          <p:cNvPr id="10" name="Text 6"/>
          <p:cNvSpPr/>
          <p:nvPr/>
        </p:nvSpPr>
        <p:spPr>
          <a:xfrm>
            <a:off x="5565696" y="292762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Drive</a:t>
            </a:r>
            <a:endParaRPr lang="en-US" sz="2200" dirty="0"/>
          </a:p>
        </p:txBody>
      </p:sp>
      <p:sp>
        <p:nvSpPr>
          <p:cNvPr id="11" name="Text 7"/>
          <p:cNvSpPr/>
          <p:nvPr/>
        </p:nvSpPr>
        <p:spPr>
          <a:xfrm>
            <a:off x="5565696" y="3418046"/>
            <a:ext cx="3590330" cy="725805"/>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No full project versioning, only per-file</a:t>
            </a:r>
            <a:endParaRPr lang="en-US" sz="1750" dirty="0"/>
          </a:p>
        </p:txBody>
      </p:sp>
      <p:sp>
        <p:nvSpPr>
          <p:cNvPr id="12" name="Shape 8"/>
          <p:cNvSpPr/>
          <p:nvPr/>
        </p:nvSpPr>
        <p:spPr>
          <a:xfrm>
            <a:off x="9640133" y="2670334"/>
            <a:ext cx="4196358" cy="1730812"/>
          </a:xfrm>
          <a:prstGeom prst="roundRect">
            <a:avLst>
              <a:gd name="adj" fmla="val 8453"/>
            </a:avLst>
          </a:prstGeom>
          <a:solidFill>
            <a:srgbClr val="FBFCFE"/>
          </a:solidFill>
          <a:ln w="30480">
            <a:solidFill>
              <a:srgbClr val="CFD2D8"/>
            </a:solidFill>
            <a:prstDash val="solid"/>
          </a:ln>
        </p:spPr>
      </p:sp>
      <p:pic>
        <p:nvPicPr>
          <p:cNvPr id="13" name="Image 2" descr="preencoded.png"/>
          <p:cNvPicPr>
            <a:picLocks noChangeAspect="1"/>
          </p:cNvPicPr>
          <p:nvPr/>
        </p:nvPicPr>
        <p:blipFill>
          <a:blip r:embed="rId3"/>
          <a:stretch>
            <a:fillRect/>
          </a:stretch>
        </p:blipFill>
        <p:spPr>
          <a:xfrm>
            <a:off x="9609653" y="2670334"/>
            <a:ext cx="121920" cy="1730812"/>
          </a:xfrm>
          <a:prstGeom prst="rect">
            <a:avLst/>
          </a:prstGeom>
        </p:spPr>
      </p:pic>
      <p:sp>
        <p:nvSpPr>
          <p:cNvPr id="14" name="Text 9"/>
          <p:cNvSpPr/>
          <p:nvPr/>
        </p:nvSpPr>
        <p:spPr>
          <a:xfrm>
            <a:off x="9988868" y="292762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Notion</a:t>
            </a:r>
            <a:endParaRPr lang="en-US" sz="2200" dirty="0"/>
          </a:p>
        </p:txBody>
      </p:sp>
      <p:sp>
        <p:nvSpPr>
          <p:cNvPr id="15" name="Text 10"/>
          <p:cNvSpPr/>
          <p:nvPr/>
        </p:nvSpPr>
        <p:spPr>
          <a:xfrm>
            <a:off x="9988868" y="3418046"/>
            <a:ext cx="3590330" cy="725805"/>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No file rollback or structured project views</a:t>
            </a:r>
            <a:endParaRPr lang="en-US" sz="1750" dirty="0"/>
          </a:p>
        </p:txBody>
      </p:sp>
      <p:sp>
        <p:nvSpPr>
          <p:cNvPr id="16" name="Shape 11"/>
          <p:cNvSpPr/>
          <p:nvPr/>
        </p:nvSpPr>
        <p:spPr>
          <a:xfrm>
            <a:off x="793790" y="4627959"/>
            <a:ext cx="4196358" cy="2093714"/>
          </a:xfrm>
          <a:prstGeom prst="roundRect">
            <a:avLst>
              <a:gd name="adj" fmla="val 6988"/>
            </a:avLst>
          </a:prstGeom>
          <a:solidFill>
            <a:srgbClr val="FBFCFE"/>
          </a:solidFill>
          <a:ln w="30480">
            <a:solidFill>
              <a:srgbClr val="CFD2D8"/>
            </a:solidFill>
            <a:prstDash val="solid"/>
          </a:ln>
        </p:spPr>
      </p:sp>
      <p:pic>
        <p:nvPicPr>
          <p:cNvPr id="17" name="Image 3" descr="preencoded.png"/>
          <p:cNvPicPr>
            <a:picLocks noChangeAspect="1"/>
          </p:cNvPicPr>
          <p:nvPr/>
        </p:nvPicPr>
        <p:blipFill>
          <a:blip r:embed="rId4"/>
          <a:stretch>
            <a:fillRect/>
          </a:stretch>
        </p:blipFill>
        <p:spPr>
          <a:xfrm>
            <a:off x="763310" y="4627959"/>
            <a:ext cx="121920" cy="2093714"/>
          </a:xfrm>
          <a:prstGeom prst="rect">
            <a:avLst/>
          </a:prstGeom>
        </p:spPr>
      </p:pic>
      <p:sp>
        <p:nvSpPr>
          <p:cNvPr id="18" name="Text 12"/>
          <p:cNvSpPr/>
          <p:nvPr/>
        </p:nvSpPr>
        <p:spPr>
          <a:xfrm>
            <a:off x="1142524" y="488525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ProjectBuddy</a:t>
            </a:r>
            <a:endParaRPr lang="en-US" sz="2200" dirty="0"/>
          </a:p>
        </p:txBody>
      </p:sp>
      <p:sp>
        <p:nvSpPr>
          <p:cNvPr id="19" name="Text 13"/>
          <p:cNvSpPr/>
          <p:nvPr/>
        </p:nvSpPr>
        <p:spPr>
          <a:xfrm>
            <a:off x="1142524" y="5375672"/>
            <a:ext cx="3590330" cy="1088708"/>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Project submission tracker, lacks version history and timeline rollback</a:t>
            </a:r>
            <a:endParaRPr lang="en-US" sz="1750" dirty="0"/>
          </a:p>
        </p:txBody>
      </p:sp>
      <p:sp>
        <p:nvSpPr>
          <p:cNvPr id="20" name="Shape 14"/>
          <p:cNvSpPr/>
          <p:nvPr/>
        </p:nvSpPr>
        <p:spPr>
          <a:xfrm>
            <a:off x="5216962" y="4627959"/>
            <a:ext cx="4196358" cy="2093714"/>
          </a:xfrm>
          <a:prstGeom prst="roundRect">
            <a:avLst>
              <a:gd name="adj" fmla="val 6988"/>
            </a:avLst>
          </a:prstGeom>
          <a:solidFill>
            <a:srgbClr val="FBFCFE"/>
          </a:solidFill>
          <a:ln w="30480">
            <a:solidFill>
              <a:srgbClr val="CFD2D8"/>
            </a:solidFill>
            <a:prstDash val="solid"/>
          </a:ln>
        </p:spPr>
      </p:sp>
      <p:pic>
        <p:nvPicPr>
          <p:cNvPr id="21" name="Image 4" descr="preencoded.png"/>
          <p:cNvPicPr>
            <a:picLocks noChangeAspect="1"/>
          </p:cNvPicPr>
          <p:nvPr/>
        </p:nvPicPr>
        <p:blipFill>
          <a:blip r:embed="rId4"/>
          <a:stretch>
            <a:fillRect/>
          </a:stretch>
        </p:blipFill>
        <p:spPr>
          <a:xfrm>
            <a:off x="5186482" y="4627959"/>
            <a:ext cx="121920" cy="2093714"/>
          </a:xfrm>
          <a:prstGeom prst="rect">
            <a:avLst/>
          </a:prstGeom>
        </p:spPr>
      </p:pic>
      <p:sp>
        <p:nvSpPr>
          <p:cNvPr id="22" name="Text 15"/>
          <p:cNvSpPr/>
          <p:nvPr/>
        </p:nvSpPr>
        <p:spPr>
          <a:xfrm>
            <a:off x="5565696" y="488525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Google Docs</a:t>
            </a:r>
            <a:endParaRPr lang="en-US" sz="2200" dirty="0"/>
          </a:p>
        </p:txBody>
      </p:sp>
      <p:sp>
        <p:nvSpPr>
          <p:cNvPr id="23" name="Text 16"/>
          <p:cNvSpPr/>
          <p:nvPr/>
        </p:nvSpPr>
        <p:spPr>
          <a:xfrm>
            <a:off x="5565696" y="5375672"/>
            <a:ext cx="3590330" cy="1088708"/>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Real-time collaboration, but no structured project versioning or rollback capabilities</a:t>
            </a:r>
            <a:endParaRPr lang="en-US" sz="1750" dirty="0"/>
          </a:p>
        </p:txBody>
      </p:sp>
      <p:sp>
        <p:nvSpPr>
          <p:cNvPr id="24" name="Shape 17"/>
          <p:cNvSpPr/>
          <p:nvPr/>
        </p:nvSpPr>
        <p:spPr>
          <a:xfrm>
            <a:off x="9640133" y="4627959"/>
            <a:ext cx="4196358" cy="2093714"/>
          </a:xfrm>
          <a:prstGeom prst="roundRect">
            <a:avLst>
              <a:gd name="adj" fmla="val 6988"/>
            </a:avLst>
          </a:prstGeom>
          <a:solidFill>
            <a:srgbClr val="FBFCFE"/>
          </a:solidFill>
          <a:ln w="30480">
            <a:solidFill>
              <a:srgbClr val="CFD2D8"/>
            </a:solidFill>
            <a:prstDash val="solid"/>
          </a:ln>
        </p:spPr>
      </p:sp>
      <p:pic>
        <p:nvPicPr>
          <p:cNvPr id="25" name="Image 5" descr="preencoded.png"/>
          <p:cNvPicPr>
            <a:picLocks noChangeAspect="1"/>
          </p:cNvPicPr>
          <p:nvPr/>
        </p:nvPicPr>
        <p:blipFill>
          <a:blip r:embed="rId4"/>
          <a:stretch>
            <a:fillRect/>
          </a:stretch>
        </p:blipFill>
        <p:spPr>
          <a:xfrm>
            <a:off x="9609653" y="4627959"/>
            <a:ext cx="121920" cy="2093714"/>
          </a:xfrm>
          <a:prstGeom prst="rect">
            <a:avLst/>
          </a:prstGeom>
        </p:spPr>
      </p:pic>
      <p:sp>
        <p:nvSpPr>
          <p:cNvPr id="26" name="Text 18"/>
          <p:cNvSpPr/>
          <p:nvPr/>
        </p:nvSpPr>
        <p:spPr>
          <a:xfrm>
            <a:off x="9988868" y="488525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Docu-Pile</a:t>
            </a:r>
            <a:endParaRPr lang="en-US" sz="2200" dirty="0"/>
          </a:p>
        </p:txBody>
      </p:sp>
      <p:sp>
        <p:nvSpPr>
          <p:cNvPr id="27" name="Text 19"/>
          <p:cNvSpPr/>
          <p:nvPr/>
        </p:nvSpPr>
        <p:spPr>
          <a:xfrm>
            <a:off x="9988868" y="5375672"/>
            <a:ext cx="3590330" cy="1088708"/>
          </a:xfrm>
          <a:prstGeom prst="rect">
            <a:avLst/>
          </a:prstGeom>
          <a:noFill/>
          <a:ln/>
        </p:spPr>
        <p:txBody>
          <a:bodyPr wrap="squar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Document organization tool, but lacks version control and automated rollback features</a:t>
            </a:r>
            <a:endParaRPr lang="en-US" sz="1750" dirty="0"/>
          </a:p>
        </p:txBody>
      </p:sp>
      <p:sp>
        <p:nvSpPr>
          <p:cNvPr id="28" name="Text 20"/>
          <p:cNvSpPr/>
          <p:nvPr/>
        </p:nvSpPr>
        <p:spPr>
          <a:xfrm>
            <a:off x="793790" y="6976824"/>
            <a:ext cx="13042821" cy="453509"/>
          </a:xfrm>
          <a:prstGeom prst="rect">
            <a:avLst/>
          </a:prstGeom>
          <a:noFill/>
          <a:ln/>
        </p:spPr>
        <p:txBody>
          <a:bodyPr wrap="none" lIns="0" tIns="0" rIns="0" bIns="0" rtlCol="0" anchor="t"/>
          <a:lstStyle/>
          <a:p>
            <a:pPr marL="0" indent="0" algn="l">
              <a:lnSpc>
                <a:spcPts val="3550"/>
              </a:lnSpc>
              <a:buNone/>
            </a:pPr>
            <a:r>
              <a:rPr lang="en-US" sz="2200" b="1" dirty="0">
                <a:solidFill>
                  <a:srgbClr val="3257B8"/>
                </a:solidFill>
                <a:latin typeface="Roboto" pitchFamily="34" charset="0"/>
                <a:ea typeface="Roboto" pitchFamily="34" charset="-122"/>
                <a:cs typeface="Roboto" pitchFamily="34" charset="-120"/>
              </a:rPr>
              <a:t>ProjectVault stands unique in addressing academic project workflows</a:t>
            </a:r>
            <a:endParaRPr lang="en-US" sz="2200" dirty="0"/>
          </a:p>
        </p:txBody>
      </p:sp>
      <p:sp>
        <p:nvSpPr>
          <p:cNvPr id="29" name="Rectangle 28">
            <a:extLst>
              <a:ext uri="{FF2B5EF4-FFF2-40B4-BE49-F238E27FC236}">
                <a16:creationId xmlns:a16="http://schemas.microsoft.com/office/drawing/2014/main" id="{386DBEF3-F54D-33E3-C84B-B4B4227F4114}"/>
              </a:ext>
            </a:extLst>
          </p:cNvPr>
          <p:cNvSpPr/>
          <p:nvPr/>
        </p:nvSpPr>
        <p:spPr>
          <a:xfrm>
            <a:off x="12881113" y="7765774"/>
            <a:ext cx="1656522" cy="362903"/>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64858" y="656392"/>
            <a:ext cx="7080409" cy="682943"/>
          </a:xfrm>
          <a:prstGeom prst="rect">
            <a:avLst/>
          </a:prstGeom>
          <a:noFill/>
          <a:ln/>
        </p:spPr>
        <p:txBody>
          <a:bodyPr wrap="none" lIns="0" tIns="0" rIns="0" bIns="0" rtlCol="0" anchor="t"/>
          <a:lstStyle/>
          <a:p>
            <a:pPr marL="0" indent="0" algn="l">
              <a:lnSpc>
                <a:spcPts val="5350"/>
              </a:lnSpc>
              <a:buNone/>
            </a:pPr>
            <a:r>
              <a:rPr lang="en-US" sz="4300" dirty="0">
                <a:solidFill>
                  <a:srgbClr val="3257B8"/>
                </a:solidFill>
                <a:latin typeface="Roboto Slab" pitchFamily="34" charset="0"/>
                <a:ea typeface="Roboto Slab" pitchFamily="34" charset="-122"/>
                <a:cs typeface="Roboto Slab" pitchFamily="34" charset="-120"/>
              </a:rPr>
              <a:t>Our Solution — ProjectVault</a:t>
            </a:r>
            <a:endParaRPr lang="en-US" sz="4300" dirty="0"/>
          </a:p>
        </p:txBody>
      </p:sp>
      <p:sp>
        <p:nvSpPr>
          <p:cNvPr id="3" name="Text 1"/>
          <p:cNvSpPr/>
          <p:nvPr/>
        </p:nvSpPr>
        <p:spPr>
          <a:xfrm>
            <a:off x="764858" y="1423511"/>
            <a:ext cx="3277910" cy="409694"/>
          </a:xfrm>
          <a:prstGeom prst="rect">
            <a:avLst/>
          </a:prstGeom>
          <a:noFill/>
          <a:ln/>
        </p:spPr>
        <p:txBody>
          <a:bodyPr wrap="none" lIns="0" tIns="0" rIns="0" bIns="0" rtlCol="0" anchor="t"/>
          <a:lstStyle/>
          <a:p>
            <a:pPr marL="0" indent="0" algn="l">
              <a:lnSpc>
                <a:spcPts val="3200"/>
              </a:lnSpc>
              <a:buNone/>
            </a:pPr>
            <a:r>
              <a:rPr lang="en-US" sz="2550" dirty="0">
                <a:solidFill>
                  <a:srgbClr val="3257B8"/>
                </a:solidFill>
                <a:latin typeface="Roboto Slab" pitchFamily="34" charset="0"/>
                <a:ea typeface="Roboto Slab" pitchFamily="34" charset="-122"/>
                <a:cs typeface="Roboto Slab" pitchFamily="34" charset="-120"/>
              </a:rPr>
              <a:t>What it does:</a:t>
            </a:r>
            <a:endParaRPr lang="en-US" sz="25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4858" y="2148959"/>
            <a:ext cx="436959" cy="436959"/>
          </a:xfrm>
          <a:prstGeom prst="rect">
            <a:avLst/>
          </a:prstGeom>
        </p:spPr>
      </p:pic>
      <p:sp>
        <p:nvSpPr>
          <p:cNvPr id="5" name="Text 2"/>
          <p:cNvSpPr/>
          <p:nvPr/>
        </p:nvSpPr>
        <p:spPr>
          <a:xfrm>
            <a:off x="1464945" y="2223968"/>
            <a:ext cx="3220760" cy="341352"/>
          </a:xfrm>
          <a:prstGeom prst="rect">
            <a:avLst/>
          </a:prstGeom>
          <a:noFill/>
          <a:ln/>
        </p:spPr>
        <p:txBody>
          <a:bodyPr wrap="none" lIns="0" tIns="0" rIns="0" bIns="0" rtlCol="0" anchor="t"/>
          <a:lstStyle/>
          <a:p>
            <a:pPr marL="0" indent="0" algn="l">
              <a:lnSpc>
                <a:spcPts val="2650"/>
              </a:lnSpc>
              <a:buNone/>
            </a:pPr>
            <a:r>
              <a:rPr lang="en-US" sz="2150" dirty="0">
                <a:solidFill>
                  <a:srgbClr val="15213F"/>
                </a:solidFill>
                <a:latin typeface="Roboto Slab" pitchFamily="34" charset="0"/>
                <a:ea typeface="Roboto Slab" pitchFamily="34" charset="-122"/>
                <a:cs typeface="Roboto Slab" pitchFamily="34" charset="-120"/>
              </a:rPr>
              <a:t>Auto-saves every change</a:t>
            </a:r>
            <a:endParaRPr lang="en-US" sz="2150" dirty="0"/>
          </a:p>
        </p:txBody>
      </p:sp>
      <p:sp>
        <p:nvSpPr>
          <p:cNvPr id="6" name="Text 3"/>
          <p:cNvSpPr/>
          <p:nvPr/>
        </p:nvSpPr>
        <p:spPr>
          <a:xfrm>
            <a:off x="1464945" y="2691527"/>
            <a:ext cx="3491389" cy="1373026"/>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15213F"/>
                </a:solidFill>
                <a:latin typeface="Roboto" pitchFamily="34" charset="0"/>
                <a:ea typeface="Roboto" pitchFamily="34" charset="-122"/>
                <a:cs typeface="Roboto" pitchFamily="34" charset="-120"/>
              </a:rPr>
              <a:t>Automatically captures all modifications in real-time</a:t>
            </a:r>
            <a:endParaRPr lang="en-US" sz="1700" dirty="0"/>
          </a:p>
          <a:p>
            <a:pPr marL="342900" indent="-342900" algn="l">
              <a:lnSpc>
                <a:spcPts val="2700"/>
              </a:lnSpc>
              <a:buSzPct val="100000"/>
              <a:buChar char="•"/>
            </a:pPr>
            <a:r>
              <a:rPr lang="en-US" sz="1700" dirty="0">
                <a:solidFill>
                  <a:srgbClr val="15213F"/>
                </a:solidFill>
                <a:latin typeface="Roboto" pitchFamily="34" charset="0"/>
                <a:ea typeface="Roboto" pitchFamily="34" charset="-122"/>
                <a:cs typeface="Roboto" pitchFamily="34" charset="-120"/>
              </a:rPr>
              <a:t>Prevents data loss from crashes or accidental closures</a:t>
            </a:r>
            <a:endParaRPr lang="en-US" sz="170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19462" y="2148959"/>
            <a:ext cx="436959" cy="436959"/>
          </a:xfrm>
          <a:prstGeom prst="rect">
            <a:avLst/>
          </a:prstGeom>
        </p:spPr>
      </p:pic>
      <p:sp>
        <p:nvSpPr>
          <p:cNvPr id="8" name="Text 4"/>
          <p:cNvSpPr/>
          <p:nvPr/>
        </p:nvSpPr>
        <p:spPr>
          <a:xfrm>
            <a:off x="5919549" y="2223968"/>
            <a:ext cx="3458051" cy="341352"/>
          </a:xfrm>
          <a:prstGeom prst="rect">
            <a:avLst/>
          </a:prstGeom>
          <a:noFill/>
          <a:ln/>
        </p:spPr>
        <p:txBody>
          <a:bodyPr wrap="none" lIns="0" tIns="0" rIns="0" bIns="0" rtlCol="0" anchor="t"/>
          <a:lstStyle/>
          <a:p>
            <a:pPr marL="0" indent="0" algn="l">
              <a:lnSpc>
                <a:spcPts val="2650"/>
              </a:lnSpc>
              <a:buNone/>
            </a:pPr>
            <a:r>
              <a:rPr lang="en-US" sz="2150" dirty="0">
                <a:solidFill>
                  <a:srgbClr val="15213F"/>
                </a:solidFill>
                <a:latin typeface="Roboto Slab" pitchFamily="34" charset="0"/>
                <a:ea typeface="Roboto Slab" pitchFamily="34" charset="-122"/>
                <a:cs typeface="Roboto Slab" pitchFamily="34" charset="-120"/>
              </a:rPr>
              <a:t>Visual timeline of versions</a:t>
            </a:r>
            <a:endParaRPr lang="en-US" sz="2150" dirty="0"/>
          </a:p>
        </p:txBody>
      </p:sp>
      <p:sp>
        <p:nvSpPr>
          <p:cNvPr id="9" name="Text 5"/>
          <p:cNvSpPr/>
          <p:nvPr/>
        </p:nvSpPr>
        <p:spPr>
          <a:xfrm>
            <a:off x="5919549" y="2691527"/>
            <a:ext cx="3491389" cy="1373026"/>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15213F"/>
                </a:solidFill>
                <a:latin typeface="Roboto" pitchFamily="34" charset="0"/>
                <a:ea typeface="Roboto" pitchFamily="34" charset="-122"/>
                <a:cs typeface="Roboto" pitchFamily="34" charset="-120"/>
              </a:rPr>
              <a:t>See a clear graphical history of all changes</a:t>
            </a:r>
            <a:endParaRPr lang="en-US" sz="1700" dirty="0"/>
          </a:p>
          <a:p>
            <a:pPr marL="342900" indent="-342900" algn="l">
              <a:lnSpc>
                <a:spcPts val="2700"/>
              </a:lnSpc>
              <a:buSzPct val="100000"/>
              <a:buChar char="•"/>
            </a:pPr>
            <a:r>
              <a:rPr lang="en-US" sz="1700" dirty="0">
                <a:solidFill>
                  <a:srgbClr val="15213F"/>
                </a:solidFill>
                <a:latin typeface="Roboto" pitchFamily="34" charset="0"/>
                <a:ea typeface="Roboto" pitchFamily="34" charset="-122"/>
                <a:cs typeface="Roboto" pitchFamily="34" charset="-120"/>
              </a:rPr>
              <a:t>Track project evolution and identify key milestones</a:t>
            </a:r>
            <a:endParaRPr lang="en-US" sz="170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74066" y="2148959"/>
            <a:ext cx="436959" cy="436959"/>
          </a:xfrm>
          <a:prstGeom prst="rect">
            <a:avLst/>
          </a:prstGeom>
        </p:spPr>
      </p:pic>
      <p:sp>
        <p:nvSpPr>
          <p:cNvPr id="11" name="Text 6"/>
          <p:cNvSpPr/>
          <p:nvPr/>
        </p:nvSpPr>
        <p:spPr>
          <a:xfrm>
            <a:off x="10374154" y="2223968"/>
            <a:ext cx="3491389" cy="682704"/>
          </a:xfrm>
          <a:prstGeom prst="rect">
            <a:avLst/>
          </a:prstGeom>
          <a:noFill/>
          <a:ln/>
        </p:spPr>
        <p:txBody>
          <a:bodyPr wrap="square" lIns="0" tIns="0" rIns="0" bIns="0" rtlCol="0" anchor="t"/>
          <a:lstStyle/>
          <a:p>
            <a:pPr marL="0" indent="0" algn="l">
              <a:lnSpc>
                <a:spcPts val="2650"/>
              </a:lnSpc>
              <a:buNone/>
            </a:pPr>
            <a:r>
              <a:rPr lang="en-US" sz="2150" dirty="0">
                <a:solidFill>
                  <a:srgbClr val="15213F"/>
                </a:solidFill>
                <a:latin typeface="Roboto Slab" pitchFamily="34" charset="0"/>
                <a:ea typeface="Roboto Slab" pitchFamily="34" charset="-122"/>
                <a:cs typeface="Roboto Slab" pitchFamily="34" charset="-120"/>
              </a:rPr>
              <a:t>Allows rollback to any previous state</a:t>
            </a:r>
            <a:endParaRPr lang="en-US" sz="2150" dirty="0"/>
          </a:p>
        </p:txBody>
      </p:sp>
      <p:sp>
        <p:nvSpPr>
          <p:cNvPr id="12" name="Text 7"/>
          <p:cNvSpPr/>
          <p:nvPr/>
        </p:nvSpPr>
        <p:spPr>
          <a:xfrm>
            <a:off x="10374154" y="3032879"/>
            <a:ext cx="3491389" cy="1373026"/>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15213F"/>
                </a:solidFill>
                <a:latin typeface="Roboto" pitchFamily="34" charset="0"/>
                <a:ea typeface="Roboto" pitchFamily="34" charset="-122"/>
                <a:cs typeface="Roboto" pitchFamily="34" charset="-120"/>
              </a:rPr>
              <a:t>Instantly revert to any past version</a:t>
            </a:r>
            <a:endParaRPr lang="en-US" sz="1700" dirty="0"/>
          </a:p>
          <a:p>
            <a:pPr marL="342900" indent="-342900" algn="l">
              <a:lnSpc>
                <a:spcPts val="2700"/>
              </a:lnSpc>
              <a:buSzPct val="100000"/>
              <a:buChar char="•"/>
            </a:pPr>
            <a:r>
              <a:rPr lang="en-US" sz="1700" dirty="0">
                <a:solidFill>
                  <a:srgbClr val="15213F"/>
                </a:solidFill>
                <a:latin typeface="Roboto" pitchFamily="34" charset="0"/>
                <a:ea typeface="Roboto" pitchFamily="34" charset="-122"/>
                <a:cs typeface="Roboto" pitchFamily="34" charset="-120"/>
              </a:rPr>
              <a:t>Experiment freely without fear of permanent mistakes</a:t>
            </a:r>
            <a:endParaRPr lang="en-US" sz="1700" dirty="0"/>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4858" y="4680697"/>
            <a:ext cx="436959" cy="436959"/>
          </a:xfrm>
          <a:prstGeom prst="rect">
            <a:avLst/>
          </a:prstGeom>
        </p:spPr>
      </p:pic>
      <p:sp>
        <p:nvSpPr>
          <p:cNvPr id="14" name="Text 8"/>
          <p:cNvSpPr/>
          <p:nvPr/>
        </p:nvSpPr>
        <p:spPr>
          <a:xfrm>
            <a:off x="1464945" y="4755707"/>
            <a:ext cx="3491389" cy="682704"/>
          </a:xfrm>
          <a:prstGeom prst="rect">
            <a:avLst/>
          </a:prstGeom>
          <a:noFill/>
          <a:ln/>
        </p:spPr>
        <p:txBody>
          <a:bodyPr wrap="square" lIns="0" tIns="0" rIns="0" bIns="0" rtlCol="0" anchor="t"/>
          <a:lstStyle/>
          <a:p>
            <a:pPr marL="0" indent="0" algn="l">
              <a:lnSpc>
                <a:spcPts val="2650"/>
              </a:lnSpc>
              <a:buNone/>
            </a:pPr>
            <a:r>
              <a:rPr lang="en-US" sz="2150" dirty="0">
                <a:solidFill>
                  <a:srgbClr val="15213F"/>
                </a:solidFill>
                <a:latin typeface="Roboto Slab" pitchFamily="34" charset="0"/>
                <a:ea typeface="Roboto Slab" pitchFamily="34" charset="-122"/>
                <a:cs typeface="Roboto Slab" pitchFamily="34" charset="-120"/>
              </a:rPr>
              <a:t>Supports any file types: Docs, PDFs, Code</a:t>
            </a:r>
            <a:endParaRPr lang="en-US" sz="2150" dirty="0"/>
          </a:p>
        </p:txBody>
      </p:sp>
      <p:sp>
        <p:nvSpPr>
          <p:cNvPr id="15" name="Text 9"/>
          <p:cNvSpPr/>
          <p:nvPr/>
        </p:nvSpPr>
        <p:spPr>
          <a:xfrm>
            <a:off x="1464945" y="5564617"/>
            <a:ext cx="3491389" cy="1716283"/>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15213F"/>
                </a:solidFill>
                <a:latin typeface="Roboto" pitchFamily="34" charset="0"/>
                <a:ea typeface="Roboto" pitchFamily="34" charset="-122"/>
                <a:cs typeface="Roboto" pitchFamily="34" charset="-120"/>
              </a:rPr>
              <a:t>Works with documents, presentations, code files, Pdf, word, GIF, Jpg/Png etc…</a:t>
            </a:r>
            <a:endParaRPr lang="en-US" sz="1700" dirty="0"/>
          </a:p>
          <a:p>
            <a:pPr marL="342900" indent="-342900" algn="l">
              <a:lnSpc>
                <a:spcPts val="2700"/>
              </a:lnSpc>
              <a:buSzPct val="100000"/>
              <a:buChar char="•"/>
            </a:pPr>
            <a:r>
              <a:rPr lang="en-US" sz="1700" dirty="0">
                <a:solidFill>
                  <a:srgbClr val="15213F"/>
                </a:solidFill>
                <a:latin typeface="Roboto" pitchFamily="34" charset="0"/>
                <a:ea typeface="Roboto" pitchFamily="34" charset="-122"/>
                <a:cs typeface="Roboto" pitchFamily="34" charset="-120"/>
              </a:rPr>
              <a:t>Centralize all project assets in one place</a:t>
            </a:r>
            <a:endParaRPr lang="en-US" sz="1700" dirty="0"/>
          </a:p>
        </p:txBody>
      </p:sp>
      <p:pic>
        <p:nvPicPr>
          <p:cNvPr id="16"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219462" y="4680697"/>
            <a:ext cx="436959" cy="436959"/>
          </a:xfrm>
          <a:prstGeom prst="rect">
            <a:avLst/>
          </a:prstGeom>
        </p:spPr>
      </p:pic>
      <p:sp>
        <p:nvSpPr>
          <p:cNvPr id="17" name="Text 10"/>
          <p:cNvSpPr/>
          <p:nvPr/>
        </p:nvSpPr>
        <p:spPr>
          <a:xfrm>
            <a:off x="5919549" y="4755707"/>
            <a:ext cx="3491389" cy="682704"/>
          </a:xfrm>
          <a:prstGeom prst="rect">
            <a:avLst/>
          </a:prstGeom>
          <a:noFill/>
          <a:ln/>
        </p:spPr>
        <p:txBody>
          <a:bodyPr wrap="square" lIns="0" tIns="0" rIns="0" bIns="0" rtlCol="0" anchor="t"/>
          <a:lstStyle/>
          <a:p>
            <a:pPr marL="0" indent="0" algn="l">
              <a:lnSpc>
                <a:spcPts val="2650"/>
              </a:lnSpc>
              <a:buNone/>
            </a:pPr>
            <a:r>
              <a:rPr lang="en-US" sz="2150" dirty="0">
                <a:solidFill>
                  <a:srgbClr val="15213F"/>
                </a:solidFill>
                <a:latin typeface="Roboto Slab" pitchFamily="34" charset="0"/>
                <a:ea typeface="Roboto Slab" pitchFamily="34" charset="-122"/>
                <a:cs typeface="Roboto Slab" pitchFamily="34" charset="-120"/>
              </a:rPr>
              <a:t>Simple UI built for students</a:t>
            </a:r>
            <a:endParaRPr lang="en-US" sz="2150" dirty="0"/>
          </a:p>
        </p:txBody>
      </p:sp>
      <p:sp>
        <p:nvSpPr>
          <p:cNvPr id="18" name="Text 11"/>
          <p:cNvSpPr/>
          <p:nvPr/>
        </p:nvSpPr>
        <p:spPr>
          <a:xfrm>
            <a:off x="5919549" y="5564617"/>
            <a:ext cx="3491389" cy="1373026"/>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15213F"/>
                </a:solidFill>
                <a:latin typeface="Roboto" pitchFamily="34" charset="0"/>
                <a:ea typeface="Roboto" pitchFamily="34" charset="-122"/>
                <a:cs typeface="Roboto" pitchFamily="34" charset="-120"/>
              </a:rPr>
              <a:t>Intuitive interface designed for non-technical users</a:t>
            </a:r>
            <a:endParaRPr lang="en-US" sz="1700" dirty="0"/>
          </a:p>
          <a:p>
            <a:pPr marL="342900" indent="-342900" algn="l">
              <a:lnSpc>
                <a:spcPts val="2700"/>
              </a:lnSpc>
              <a:buSzPct val="100000"/>
              <a:buChar char="•"/>
            </a:pPr>
            <a:r>
              <a:rPr lang="en-US" sz="1700" dirty="0">
                <a:solidFill>
                  <a:srgbClr val="15213F"/>
                </a:solidFill>
                <a:latin typeface="Roboto" pitchFamily="34" charset="0"/>
                <a:ea typeface="Roboto" pitchFamily="34" charset="-122"/>
                <a:cs typeface="Roboto" pitchFamily="34" charset="-120"/>
              </a:rPr>
              <a:t>Focus on studies, not learning complex software</a:t>
            </a:r>
            <a:endParaRPr lang="en-US" sz="1700" dirty="0"/>
          </a:p>
        </p:txBody>
      </p:sp>
      <p:sp>
        <p:nvSpPr>
          <p:cNvPr id="19" name="Rectangle 18">
            <a:extLst>
              <a:ext uri="{FF2B5EF4-FFF2-40B4-BE49-F238E27FC236}">
                <a16:creationId xmlns:a16="http://schemas.microsoft.com/office/drawing/2014/main" id="{185EE918-D7B0-BB66-D330-93B476D66620}"/>
              </a:ext>
            </a:extLst>
          </p:cNvPr>
          <p:cNvSpPr/>
          <p:nvPr/>
        </p:nvSpPr>
        <p:spPr>
          <a:xfrm>
            <a:off x="12881113" y="7765774"/>
            <a:ext cx="1656522" cy="362903"/>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30659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Tech Stack</a:t>
            </a:r>
            <a:endParaRPr lang="en-US" sz="4450" dirty="0"/>
          </a:p>
        </p:txBody>
      </p:sp>
      <p:sp>
        <p:nvSpPr>
          <p:cNvPr id="3" name="Shape 1"/>
          <p:cNvSpPr/>
          <p:nvPr/>
        </p:nvSpPr>
        <p:spPr>
          <a:xfrm>
            <a:off x="793790" y="2355533"/>
            <a:ext cx="13042821" cy="4567476"/>
          </a:xfrm>
          <a:prstGeom prst="roundRect">
            <a:avLst>
              <a:gd name="adj" fmla="val 745"/>
            </a:avLst>
          </a:prstGeom>
          <a:noFill/>
          <a:ln w="7620">
            <a:solidFill>
              <a:srgbClr val="000000">
                <a:alpha val="8000"/>
              </a:srgbClr>
            </a:solidFill>
            <a:prstDash val="solid"/>
          </a:ln>
        </p:spPr>
      </p:sp>
      <p:sp>
        <p:nvSpPr>
          <p:cNvPr id="4" name="Shape 2"/>
          <p:cNvSpPr/>
          <p:nvPr/>
        </p:nvSpPr>
        <p:spPr>
          <a:xfrm>
            <a:off x="801410" y="2363153"/>
            <a:ext cx="13027581" cy="650319"/>
          </a:xfrm>
          <a:prstGeom prst="rect">
            <a:avLst/>
          </a:prstGeom>
          <a:solidFill>
            <a:srgbClr val="FFFFFF">
              <a:alpha val="4000"/>
            </a:srgbClr>
          </a:solidFill>
          <a:ln/>
        </p:spPr>
      </p:sp>
      <p:sp>
        <p:nvSpPr>
          <p:cNvPr id="5" name="Text 3"/>
          <p:cNvSpPr/>
          <p:nvPr/>
        </p:nvSpPr>
        <p:spPr>
          <a:xfrm>
            <a:off x="1028224" y="2506861"/>
            <a:ext cx="6056352" cy="362903"/>
          </a:xfrm>
          <a:prstGeom prst="rect">
            <a:avLst/>
          </a:prstGeom>
          <a:noFill/>
          <a:ln/>
        </p:spPr>
        <p:txBody>
          <a:bodyPr wrap="none" lIns="0" tIns="0" rIns="0" bIns="0" rtlCol="0" anchor="t"/>
          <a:lstStyle/>
          <a:p>
            <a:pPr marL="0" indent="0" algn="l">
              <a:lnSpc>
                <a:spcPts val="2850"/>
              </a:lnSpc>
              <a:buNone/>
            </a:pPr>
            <a:r>
              <a:rPr lang="en-US" sz="1750" b="1" dirty="0">
                <a:solidFill>
                  <a:srgbClr val="15213F"/>
                </a:solidFill>
                <a:latin typeface="Roboto" pitchFamily="34" charset="0"/>
                <a:ea typeface="Roboto" pitchFamily="34" charset="-122"/>
                <a:cs typeface="Roboto" pitchFamily="34" charset="-120"/>
              </a:rPr>
              <a:t>Layer</a:t>
            </a:r>
            <a:endParaRPr lang="en-US" sz="1750" dirty="0"/>
          </a:p>
        </p:txBody>
      </p:sp>
      <p:sp>
        <p:nvSpPr>
          <p:cNvPr id="6" name="Text 4"/>
          <p:cNvSpPr/>
          <p:nvPr/>
        </p:nvSpPr>
        <p:spPr>
          <a:xfrm>
            <a:off x="7545824" y="2506861"/>
            <a:ext cx="6056352" cy="362903"/>
          </a:xfrm>
          <a:prstGeom prst="rect">
            <a:avLst/>
          </a:prstGeom>
          <a:noFill/>
          <a:ln/>
        </p:spPr>
        <p:txBody>
          <a:bodyPr wrap="none" lIns="0" tIns="0" rIns="0" bIns="0" rtlCol="0" anchor="t"/>
          <a:lstStyle/>
          <a:p>
            <a:pPr marL="0" indent="0" algn="l">
              <a:lnSpc>
                <a:spcPts val="2850"/>
              </a:lnSpc>
              <a:buNone/>
            </a:pPr>
            <a:r>
              <a:rPr lang="en-US" sz="1750" b="1" dirty="0">
                <a:solidFill>
                  <a:srgbClr val="15213F"/>
                </a:solidFill>
                <a:latin typeface="Roboto" pitchFamily="34" charset="0"/>
                <a:ea typeface="Roboto" pitchFamily="34" charset="-122"/>
                <a:cs typeface="Roboto" pitchFamily="34" charset="-120"/>
              </a:rPr>
              <a:t>Tool</a:t>
            </a:r>
            <a:endParaRPr lang="en-US" sz="1750" dirty="0"/>
          </a:p>
        </p:txBody>
      </p:sp>
      <p:sp>
        <p:nvSpPr>
          <p:cNvPr id="7" name="Shape 5"/>
          <p:cNvSpPr/>
          <p:nvPr/>
        </p:nvSpPr>
        <p:spPr>
          <a:xfrm>
            <a:off x="801410" y="3013472"/>
            <a:ext cx="13027581" cy="650319"/>
          </a:xfrm>
          <a:prstGeom prst="rect">
            <a:avLst/>
          </a:prstGeom>
          <a:solidFill>
            <a:srgbClr val="000000">
              <a:alpha val="4000"/>
            </a:srgbClr>
          </a:solidFill>
          <a:ln/>
        </p:spPr>
      </p:sp>
      <p:sp>
        <p:nvSpPr>
          <p:cNvPr id="8" name="Text 6"/>
          <p:cNvSpPr/>
          <p:nvPr/>
        </p:nvSpPr>
        <p:spPr>
          <a:xfrm>
            <a:off x="1028224" y="3157180"/>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Frontend</a:t>
            </a:r>
            <a:endParaRPr lang="en-US" sz="1750" dirty="0"/>
          </a:p>
        </p:txBody>
      </p:sp>
      <p:sp>
        <p:nvSpPr>
          <p:cNvPr id="9" name="Text 7"/>
          <p:cNvSpPr/>
          <p:nvPr/>
        </p:nvSpPr>
        <p:spPr>
          <a:xfrm>
            <a:off x="7545824" y="3157180"/>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React / React Native</a:t>
            </a:r>
            <a:endParaRPr lang="en-US" sz="1750" dirty="0"/>
          </a:p>
        </p:txBody>
      </p:sp>
      <p:sp>
        <p:nvSpPr>
          <p:cNvPr id="10" name="Shape 8"/>
          <p:cNvSpPr/>
          <p:nvPr/>
        </p:nvSpPr>
        <p:spPr>
          <a:xfrm>
            <a:off x="801410" y="3663791"/>
            <a:ext cx="13027581" cy="650319"/>
          </a:xfrm>
          <a:prstGeom prst="rect">
            <a:avLst/>
          </a:prstGeom>
          <a:solidFill>
            <a:srgbClr val="FFFFFF">
              <a:alpha val="4000"/>
            </a:srgbClr>
          </a:solidFill>
          <a:ln/>
        </p:spPr>
      </p:sp>
      <p:sp>
        <p:nvSpPr>
          <p:cNvPr id="11" name="Text 9"/>
          <p:cNvSpPr/>
          <p:nvPr/>
        </p:nvSpPr>
        <p:spPr>
          <a:xfrm>
            <a:off x="1028224" y="3807500"/>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Styling</a:t>
            </a:r>
            <a:endParaRPr lang="en-US" sz="1750" dirty="0"/>
          </a:p>
        </p:txBody>
      </p:sp>
      <p:sp>
        <p:nvSpPr>
          <p:cNvPr id="12" name="Text 10"/>
          <p:cNvSpPr/>
          <p:nvPr/>
        </p:nvSpPr>
        <p:spPr>
          <a:xfrm>
            <a:off x="7545824" y="3807500"/>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TailwindCSS</a:t>
            </a:r>
            <a:endParaRPr lang="en-US" sz="1750" dirty="0"/>
          </a:p>
        </p:txBody>
      </p:sp>
      <p:sp>
        <p:nvSpPr>
          <p:cNvPr id="13" name="Shape 11"/>
          <p:cNvSpPr/>
          <p:nvPr/>
        </p:nvSpPr>
        <p:spPr>
          <a:xfrm>
            <a:off x="801410" y="4314111"/>
            <a:ext cx="13027581" cy="650319"/>
          </a:xfrm>
          <a:prstGeom prst="rect">
            <a:avLst/>
          </a:prstGeom>
          <a:solidFill>
            <a:srgbClr val="000000">
              <a:alpha val="4000"/>
            </a:srgbClr>
          </a:solidFill>
          <a:ln/>
        </p:spPr>
      </p:sp>
      <p:sp>
        <p:nvSpPr>
          <p:cNvPr id="14" name="Text 12"/>
          <p:cNvSpPr/>
          <p:nvPr/>
        </p:nvSpPr>
        <p:spPr>
          <a:xfrm>
            <a:off x="1028224" y="4457819"/>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Backend</a:t>
            </a:r>
            <a:endParaRPr lang="en-US" sz="1750" dirty="0"/>
          </a:p>
        </p:txBody>
      </p:sp>
      <p:sp>
        <p:nvSpPr>
          <p:cNvPr id="15" name="Text 13"/>
          <p:cNvSpPr/>
          <p:nvPr/>
        </p:nvSpPr>
        <p:spPr>
          <a:xfrm>
            <a:off x="7545824" y="4457819"/>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Python (FastAPI/Flask)</a:t>
            </a:r>
            <a:endParaRPr lang="en-US" sz="1750" dirty="0"/>
          </a:p>
        </p:txBody>
      </p:sp>
      <p:sp>
        <p:nvSpPr>
          <p:cNvPr id="16" name="Shape 14"/>
          <p:cNvSpPr/>
          <p:nvPr/>
        </p:nvSpPr>
        <p:spPr>
          <a:xfrm>
            <a:off x="801410" y="4964430"/>
            <a:ext cx="13027581" cy="650319"/>
          </a:xfrm>
          <a:prstGeom prst="rect">
            <a:avLst/>
          </a:prstGeom>
          <a:solidFill>
            <a:srgbClr val="FFFFFF">
              <a:alpha val="4000"/>
            </a:srgbClr>
          </a:solidFill>
          <a:ln/>
        </p:spPr>
      </p:sp>
      <p:sp>
        <p:nvSpPr>
          <p:cNvPr id="17" name="Text 15"/>
          <p:cNvSpPr/>
          <p:nvPr/>
        </p:nvSpPr>
        <p:spPr>
          <a:xfrm>
            <a:off x="1028224" y="5108138"/>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Database</a:t>
            </a:r>
            <a:endParaRPr lang="en-US" sz="1750" dirty="0"/>
          </a:p>
        </p:txBody>
      </p:sp>
      <p:sp>
        <p:nvSpPr>
          <p:cNvPr id="18" name="Text 16"/>
          <p:cNvSpPr/>
          <p:nvPr/>
        </p:nvSpPr>
        <p:spPr>
          <a:xfrm>
            <a:off x="7545824" y="5108138"/>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SQLite</a:t>
            </a:r>
            <a:endParaRPr lang="en-US" sz="1750" dirty="0"/>
          </a:p>
        </p:txBody>
      </p:sp>
      <p:sp>
        <p:nvSpPr>
          <p:cNvPr id="19" name="Shape 17"/>
          <p:cNvSpPr/>
          <p:nvPr/>
        </p:nvSpPr>
        <p:spPr>
          <a:xfrm>
            <a:off x="801410" y="5614749"/>
            <a:ext cx="13027581" cy="650319"/>
          </a:xfrm>
          <a:prstGeom prst="rect">
            <a:avLst/>
          </a:prstGeom>
          <a:solidFill>
            <a:srgbClr val="000000">
              <a:alpha val="4000"/>
            </a:srgbClr>
          </a:solidFill>
          <a:ln/>
        </p:spPr>
      </p:sp>
      <p:sp>
        <p:nvSpPr>
          <p:cNvPr id="20" name="Text 18"/>
          <p:cNvSpPr/>
          <p:nvPr/>
        </p:nvSpPr>
        <p:spPr>
          <a:xfrm>
            <a:off x="1028224" y="5758458"/>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Storage</a:t>
            </a:r>
            <a:endParaRPr lang="en-US" sz="1750" dirty="0"/>
          </a:p>
        </p:txBody>
      </p:sp>
      <p:sp>
        <p:nvSpPr>
          <p:cNvPr id="21" name="Text 19"/>
          <p:cNvSpPr/>
          <p:nvPr/>
        </p:nvSpPr>
        <p:spPr>
          <a:xfrm>
            <a:off x="7545824" y="5758458"/>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Local / Cloud bucket (In Future)</a:t>
            </a:r>
            <a:endParaRPr lang="en-US" sz="1750" dirty="0"/>
          </a:p>
        </p:txBody>
      </p:sp>
      <p:sp>
        <p:nvSpPr>
          <p:cNvPr id="22" name="Shape 20"/>
          <p:cNvSpPr/>
          <p:nvPr/>
        </p:nvSpPr>
        <p:spPr>
          <a:xfrm>
            <a:off x="801410" y="6265069"/>
            <a:ext cx="13027581" cy="650319"/>
          </a:xfrm>
          <a:prstGeom prst="rect">
            <a:avLst/>
          </a:prstGeom>
          <a:solidFill>
            <a:srgbClr val="FFFFFF">
              <a:alpha val="4000"/>
            </a:srgbClr>
          </a:solidFill>
          <a:ln/>
        </p:spPr>
      </p:sp>
      <p:sp>
        <p:nvSpPr>
          <p:cNvPr id="23" name="Text 21"/>
          <p:cNvSpPr/>
          <p:nvPr/>
        </p:nvSpPr>
        <p:spPr>
          <a:xfrm>
            <a:off x="1028224" y="6408777"/>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Hosting</a:t>
            </a:r>
            <a:endParaRPr lang="en-US" sz="1750" dirty="0"/>
          </a:p>
        </p:txBody>
      </p:sp>
      <p:sp>
        <p:nvSpPr>
          <p:cNvPr id="24" name="Text 22"/>
          <p:cNvSpPr/>
          <p:nvPr/>
        </p:nvSpPr>
        <p:spPr>
          <a:xfrm>
            <a:off x="7545824" y="6408777"/>
            <a:ext cx="6056352"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Render / Vercel</a:t>
            </a:r>
            <a:endParaRPr lang="en-US" sz="1750" dirty="0"/>
          </a:p>
        </p:txBody>
      </p:sp>
      <p:sp>
        <p:nvSpPr>
          <p:cNvPr id="25" name="Rectangle 24">
            <a:extLst>
              <a:ext uri="{FF2B5EF4-FFF2-40B4-BE49-F238E27FC236}">
                <a16:creationId xmlns:a16="http://schemas.microsoft.com/office/drawing/2014/main" id="{B348F7E2-E4C7-E598-8013-F10C65759815}"/>
              </a:ext>
            </a:extLst>
          </p:cNvPr>
          <p:cNvSpPr/>
          <p:nvPr/>
        </p:nvSpPr>
        <p:spPr>
          <a:xfrm>
            <a:off x="12881113" y="7765774"/>
            <a:ext cx="1656522" cy="362903"/>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1404730" y="351183"/>
            <a:ext cx="11290851" cy="7527234"/>
          </a:xfrm>
          <a:prstGeom prst="rect">
            <a:avLst/>
          </a:prstGeom>
        </p:spPr>
      </p:pic>
      <p:sp>
        <p:nvSpPr>
          <p:cNvPr id="4" name="Rectangle 3">
            <a:extLst>
              <a:ext uri="{FF2B5EF4-FFF2-40B4-BE49-F238E27FC236}">
                <a16:creationId xmlns:a16="http://schemas.microsoft.com/office/drawing/2014/main" id="{6DBA447F-BCF6-B6D8-3F11-6B3BEEAB4D6D}"/>
              </a:ext>
            </a:extLst>
          </p:cNvPr>
          <p:cNvSpPr/>
          <p:nvPr/>
        </p:nvSpPr>
        <p:spPr>
          <a:xfrm>
            <a:off x="12881113" y="7765774"/>
            <a:ext cx="1656522" cy="362903"/>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a:stretch/>
        </p:blipFill>
        <p:spPr>
          <a:xfrm>
            <a:off x="196219" y="2040835"/>
            <a:ext cx="14237962" cy="3061252"/>
          </a:xfrm>
          <a:prstGeom prst="rect">
            <a:avLst/>
          </a:prstGeom>
        </p:spPr>
      </p:pic>
      <p:sp>
        <p:nvSpPr>
          <p:cNvPr id="3" name="Rectangle 2">
            <a:extLst>
              <a:ext uri="{FF2B5EF4-FFF2-40B4-BE49-F238E27FC236}">
                <a16:creationId xmlns:a16="http://schemas.microsoft.com/office/drawing/2014/main" id="{824A3A3C-21B1-1624-AD90-D4A2C7F2D6C2}"/>
              </a:ext>
            </a:extLst>
          </p:cNvPr>
          <p:cNvSpPr/>
          <p:nvPr/>
        </p:nvSpPr>
        <p:spPr>
          <a:xfrm>
            <a:off x="12881113" y="7765774"/>
            <a:ext cx="1656522" cy="362903"/>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87956" y="636151"/>
            <a:ext cx="5628918" cy="703659"/>
          </a:xfrm>
          <a:prstGeom prst="rect">
            <a:avLst/>
          </a:prstGeom>
          <a:noFill/>
          <a:ln/>
        </p:spPr>
        <p:txBody>
          <a:bodyPr wrap="none" lIns="0" tIns="0" rIns="0" bIns="0" rtlCol="0" anchor="t"/>
          <a:lstStyle/>
          <a:p>
            <a:pPr marL="0" indent="0" algn="l">
              <a:lnSpc>
                <a:spcPts val="5500"/>
              </a:lnSpc>
              <a:buNone/>
            </a:pPr>
            <a:r>
              <a:rPr lang="en-US" sz="4400" dirty="0">
                <a:solidFill>
                  <a:srgbClr val="3257B8"/>
                </a:solidFill>
                <a:latin typeface="Roboto Slab" pitchFamily="34" charset="0"/>
                <a:ea typeface="Roboto Slab" pitchFamily="34" charset="-122"/>
                <a:cs typeface="Roboto Slab" pitchFamily="34" charset="-120"/>
              </a:rPr>
              <a:t>Comparison Table</a:t>
            </a:r>
            <a:endParaRPr lang="en-US" sz="4400" dirty="0"/>
          </a:p>
        </p:txBody>
      </p:sp>
      <p:sp>
        <p:nvSpPr>
          <p:cNvPr id="3" name="Text 1"/>
          <p:cNvSpPr/>
          <p:nvPr/>
        </p:nvSpPr>
        <p:spPr>
          <a:xfrm>
            <a:off x="787956" y="1786771"/>
            <a:ext cx="13054489"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Tabular format showing comparison of ProjectVault vs GitHub, Drive, Notion, etc.</a:t>
            </a:r>
            <a:endParaRPr lang="en-US" sz="1750" dirty="0"/>
          </a:p>
        </p:txBody>
      </p:sp>
      <p:sp>
        <p:nvSpPr>
          <p:cNvPr id="4" name="Shape 2"/>
          <p:cNvSpPr/>
          <p:nvPr/>
        </p:nvSpPr>
        <p:spPr>
          <a:xfrm>
            <a:off x="787956" y="2396966"/>
            <a:ext cx="13054489" cy="4586288"/>
          </a:xfrm>
          <a:prstGeom prst="roundRect">
            <a:avLst>
              <a:gd name="adj" fmla="val 736"/>
            </a:avLst>
          </a:prstGeom>
          <a:noFill/>
          <a:ln w="7620">
            <a:solidFill>
              <a:srgbClr val="000000">
                <a:alpha val="8000"/>
              </a:srgbClr>
            </a:solidFill>
            <a:prstDash val="solid"/>
          </a:ln>
        </p:spPr>
      </p:sp>
      <p:sp>
        <p:nvSpPr>
          <p:cNvPr id="5" name="Shape 3"/>
          <p:cNvSpPr/>
          <p:nvPr/>
        </p:nvSpPr>
        <p:spPr>
          <a:xfrm>
            <a:off x="795576" y="2404586"/>
            <a:ext cx="13039249" cy="642223"/>
          </a:xfrm>
          <a:prstGeom prst="rect">
            <a:avLst/>
          </a:prstGeom>
          <a:solidFill>
            <a:srgbClr val="FFFFFF">
              <a:alpha val="4000"/>
            </a:srgbClr>
          </a:solidFill>
          <a:ln/>
        </p:spPr>
      </p:sp>
      <p:sp>
        <p:nvSpPr>
          <p:cNvPr id="6" name="Text 4"/>
          <p:cNvSpPr/>
          <p:nvPr/>
        </p:nvSpPr>
        <p:spPr>
          <a:xfrm>
            <a:off x="1021199" y="2546271"/>
            <a:ext cx="1632109" cy="358854"/>
          </a:xfrm>
          <a:prstGeom prst="rect">
            <a:avLst/>
          </a:prstGeom>
          <a:noFill/>
          <a:ln/>
        </p:spPr>
        <p:txBody>
          <a:bodyPr wrap="none" lIns="0" tIns="0" rIns="0" bIns="0" rtlCol="0" anchor="t"/>
          <a:lstStyle/>
          <a:p>
            <a:pPr marL="0" indent="0" algn="l">
              <a:lnSpc>
                <a:spcPts val="2800"/>
              </a:lnSpc>
              <a:buNone/>
            </a:pPr>
            <a:r>
              <a:rPr lang="en-US" sz="1750" b="1" dirty="0">
                <a:solidFill>
                  <a:srgbClr val="15213F"/>
                </a:solidFill>
                <a:latin typeface="Roboto" pitchFamily="34" charset="0"/>
                <a:ea typeface="Roboto" pitchFamily="34" charset="-122"/>
                <a:cs typeface="Roboto" pitchFamily="34" charset="-120"/>
              </a:rPr>
              <a:t>Feature</a:t>
            </a:r>
            <a:endParaRPr lang="en-US" sz="1750" dirty="0"/>
          </a:p>
        </p:txBody>
      </p:sp>
      <p:sp>
        <p:nvSpPr>
          <p:cNvPr id="7" name="Text 5"/>
          <p:cNvSpPr/>
          <p:nvPr/>
        </p:nvSpPr>
        <p:spPr>
          <a:xfrm>
            <a:off x="3111222" y="2546271"/>
            <a:ext cx="1758672" cy="358854"/>
          </a:xfrm>
          <a:prstGeom prst="rect">
            <a:avLst/>
          </a:prstGeom>
          <a:noFill/>
          <a:ln/>
        </p:spPr>
        <p:txBody>
          <a:bodyPr wrap="none" lIns="0" tIns="0" rIns="0" bIns="0" rtlCol="0" anchor="t"/>
          <a:lstStyle/>
          <a:p>
            <a:pPr marL="0" indent="0" algn="l">
              <a:lnSpc>
                <a:spcPts val="2800"/>
              </a:lnSpc>
              <a:buNone/>
            </a:pPr>
            <a:r>
              <a:rPr lang="en-US" sz="1750" b="1" dirty="0">
                <a:solidFill>
                  <a:srgbClr val="15213F"/>
                </a:solidFill>
                <a:latin typeface="Roboto" pitchFamily="34" charset="0"/>
                <a:ea typeface="Roboto" pitchFamily="34" charset="-122"/>
                <a:cs typeface="Roboto" pitchFamily="34" charset="-120"/>
              </a:rPr>
              <a:t>ProjectVault</a:t>
            </a:r>
            <a:endParaRPr lang="en-US" sz="1750" dirty="0"/>
          </a:p>
        </p:txBody>
      </p:sp>
      <p:sp>
        <p:nvSpPr>
          <p:cNvPr id="8" name="Text 6"/>
          <p:cNvSpPr/>
          <p:nvPr/>
        </p:nvSpPr>
        <p:spPr>
          <a:xfrm>
            <a:off x="5327809" y="2546271"/>
            <a:ext cx="1758672" cy="358854"/>
          </a:xfrm>
          <a:prstGeom prst="rect">
            <a:avLst/>
          </a:prstGeom>
          <a:noFill/>
          <a:ln/>
        </p:spPr>
        <p:txBody>
          <a:bodyPr wrap="none" lIns="0" tIns="0" rIns="0" bIns="0" rtlCol="0" anchor="t"/>
          <a:lstStyle/>
          <a:p>
            <a:pPr marL="0" indent="0" algn="l">
              <a:lnSpc>
                <a:spcPts val="2800"/>
              </a:lnSpc>
              <a:buNone/>
            </a:pPr>
            <a:r>
              <a:rPr lang="en-US" sz="1750" b="1" dirty="0">
                <a:solidFill>
                  <a:srgbClr val="15213F"/>
                </a:solidFill>
                <a:latin typeface="Roboto" pitchFamily="34" charset="0"/>
                <a:ea typeface="Roboto" pitchFamily="34" charset="-122"/>
                <a:cs typeface="Roboto" pitchFamily="34" charset="-120"/>
              </a:rPr>
              <a:t>GitHub</a:t>
            </a:r>
            <a:endParaRPr lang="en-US" sz="1750" dirty="0"/>
          </a:p>
        </p:txBody>
      </p:sp>
      <p:sp>
        <p:nvSpPr>
          <p:cNvPr id="9" name="Text 7"/>
          <p:cNvSpPr/>
          <p:nvPr/>
        </p:nvSpPr>
        <p:spPr>
          <a:xfrm>
            <a:off x="7544395" y="2546271"/>
            <a:ext cx="1758672" cy="358854"/>
          </a:xfrm>
          <a:prstGeom prst="rect">
            <a:avLst/>
          </a:prstGeom>
          <a:noFill/>
          <a:ln/>
        </p:spPr>
        <p:txBody>
          <a:bodyPr wrap="none" lIns="0" tIns="0" rIns="0" bIns="0" rtlCol="0" anchor="t"/>
          <a:lstStyle/>
          <a:p>
            <a:pPr marL="0" indent="0" algn="l">
              <a:lnSpc>
                <a:spcPts val="2800"/>
              </a:lnSpc>
              <a:buNone/>
            </a:pPr>
            <a:r>
              <a:rPr lang="en-US" sz="1750" b="1" dirty="0">
                <a:solidFill>
                  <a:srgbClr val="15213F"/>
                </a:solidFill>
                <a:latin typeface="Roboto" pitchFamily="34" charset="0"/>
                <a:ea typeface="Roboto" pitchFamily="34" charset="-122"/>
                <a:cs typeface="Roboto" pitchFamily="34" charset="-120"/>
              </a:rPr>
              <a:t>Drive</a:t>
            </a:r>
            <a:endParaRPr lang="en-US" sz="1750" dirty="0"/>
          </a:p>
        </p:txBody>
      </p:sp>
      <p:sp>
        <p:nvSpPr>
          <p:cNvPr id="10" name="Text 8"/>
          <p:cNvSpPr/>
          <p:nvPr/>
        </p:nvSpPr>
        <p:spPr>
          <a:xfrm>
            <a:off x="9760982" y="2546271"/>
            <a:ext cx="1758672" cy="358854"/>
          </a:xfrm>
          <a:prstGeom prst="rect">
            <a:avLst/>
          </a:prstGeom>
          <a:noFill/>
          <a:ln/>
        </p:spPr>
        <p:txBody>
          <a:bodyPr wrap="none" lIns="0" tIns="0" rIns="0" bIns="0" rtlCol="0" anchor="t"/>
          <a:lstStyle/>
          <a:p>
            <a:pPr marL="0" indent="0" algn="l">
              <a:lnSpc>
                <a:spcPts val="2800"/>
              </a:lnSpc>
              <a:buNone/>
            </a:pPr>
            <a:r>
              <a:rPr lang="en-US" sz="1750" b="1" dirty="0">
                <a:solidFill>
                  <a:srgbClr val="15213F"/>
                </a:solidFill>
                <a:latin typeface="Roboto" pitchFamily="34" charset="0"/>
                <a:ea typeface="Roboto" pitchFamily="34" charset="-122"/>
                <a:cs typeface="Roboto" pitchFamily="34" charset="-120"/>
              </a:rPr>
              <a:t>Notion</a:t>
            </a:r>
            <a:endParaRPr lang="en-US" sz="1750" dirty="0"/>
          </a:p>
        </p:txBody>
      </p:sp>
      <p:sp>
        <p:nvSpPr>
          <p:cNvPr id="11" name="Text 9"/>
          <p:cNvSpPr/>
          <p:nvPr/>
        </p:nvSpPr>
        <p:spPr>
          <a:xfrm>
            <a:off x="11977568" y="2546271"/>
            <a:ext cx="1632109" cy="358854"/>
          </a:xfrm>
          <a:prstGeom prst="rect">
            <a:avLst/>
          </a:prstGeom>
          <a:noFill/>
          <a:ln/>
        </p:spPr>
        <p:txBody>
          <a:bodyPr wrap="none" lIns="0" tIns="0" rIns="0" bIns="0" rtlCol="0" anchor="t"/>
          <a:lstStyle/>
          <a:p>
            <a:pPr marL="0" indent="0" algn="l">
              <a:lnSpc>
                <a:spcPts val="2800"/>
              </a:lnSpc>
              <a:buNone/>
            </a:pPr>
            <a:r>
              <a:rPr lang="en-US" sz="1750" b="1" dirty="0">
                <a:solidFill>
                  <a:srgbClr val="15213F"/>
                </a:solidFill>
                <a:latin typeface="Roboto" pitchFamily="34" charset="0"/>
                <a:ea typeface="Roboto" pitchFamily="34" charset="-122"/>
                <a:cs typeface="Roboto" pitchFamily="34" charset="-120"/>
              </a:rPr>
              <a:t>ProjectBuddy</a:t>
            </a:r>
            <a:endParaRPr lang="en-US" sz="1750" dirty="0"/>
          </a:p>
        </p:txBody>
      </p:sp>
      <p:sp>
        <p:nvSpPr>
          <p:cNvPr id="12" name="Shape 10"/>
          <p:cNvSpPr/>
          <p:nvPr/>
        </p:nvSpPr>
        <p:spPr>
          <a:xfrm>
            <a:off x="795576" y="3046809"/>
            <a:ext cx="13039249" cy="1001078"/>
          </a:xfrm>
          <a:prstGeom prst="rect">
            <a:avLst/>
          </a:prstGeom>
          <a:solidFill>
            <a:srgbClr val="000000">
              <a:alpha val="4000"/>
            </a:srgbClr>
          </a:solidFill>
          <a:ln/>
        </p:spPr>
      </p:sp>
      <p:sp>
        <p:nvSpPr>
          <p:cNvPr id="13" name="Text 11"/>
          <p:cNvSpPr/>
          <p:nvPr/>
        </p:nvSpPr>
        <p:spPr>
          <a:xfrm>
            <a:off x="1021199" y="3188494"/>
            <a:ext cx="1632109" cy="717709"/>
          </a:xfrm>
          <a:prstGeom prst="rect">
            <a:avLst/>
          </a:prstGeom>
          <a:noFill/>
          <a:ln/>
        </p:spPr>
        <p:txBody>
          <a:bodyPr wrap="squar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Academic Focus</a:t>
            </a:r>
            <a:endParaRPr lang="en-US" sz="1750" dirty="0"/>
          </a:p>
        </p:txBody>
      </p:sp>
      <p:sp>
        <p:nvSpPr>
          <p:cNvPr id="14" name="Text 12"/>
          <p:cNvSpPr/>
          <p:nvPr/>
        </p:nvSpPr>
        <p:spPr>
          <a:xfrm>
            <a:off x="3111222" y="3188494"/>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15" name="Text 13"/>
          <p:cNvSpPr/>
          <p:nvPr/>
        </p:nvSpPr>
        <p:spPr>
          <a:xfrm>
            <a:off x="5327809" y="3188494"/>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16" name="Text 14"/>
          <p:cNvSpPr/>
          <p:nvPr/>
        </p:nvSpPr>
        <p:spPr>
          <a:xfrm>
            <a:off x="7544395" y="3188494"/>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17" name="Text 15"/>
          <p:cNvSpPr/>
          <p:nvPr/>
        </p:nvSpPr>
        <p:spPr>
          <a:xfrm>
            <a:off x="9760982" y="3188494"/>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18" name="Text 16"/>
          <p:cNvSpPr/>
          <p:nvPr/>
        </p:nvSpPr>
        <p:spPr>
          <a:xfrm>
            <a:off x="11977568" y="3188494"/>
            <a:ext cx="1632109"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19" name="Shape 17"/>
          <p:cNvSpPr/>
          <p:nvPr/>
        </p:nvSpPr>
        <p:spPr>
          <a:xfrm>
            <a:off x="795576" y="4047887"/>
            <a:ext cx="13039249" cy="642223"/>
          </a:xfrm>
          <a:prstGeom prst="rect">
            <a:avLst/>
          </a:prstGeom>
          <a:solidFill>
            <a:srgbClr val="FFFFFF">
              <a:alpha val="4000"/>
            </a:srgbClr>
          </a:solidFill>
          <a:ln/>
        </p:spPr>
      </p:sp>
      <p:sp>
        <p:nvSpPr>
          <p:cNvPr id="20" name="Text 18"/>
          <p:cNvSpPr/>
          <p:nvPr/>
        </p:nvSpPr>
        <p:spPr>
          <a:xfrm>
            <a:off x="1021199" y="4189571"/>
            <a:ext cx="1632109"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Visual Timeline</a:t>
            </a:r>
            <a:endParaRPr lang="en-US" sz="1750" dirty="0"/>
          </a:p>
        </p:txBody>
      </p:sp>
      <p:sp>
        <p:nvSpPr>
          <p:cNvPr id="21" name="Text 19"/>
          <p:cNvSpPr/>
          <p:nvPr/>
        </p:nvSpPr>
        <p:spPr>
          <a:xfrm>
            <a:off x="3111222" y="4189571"/>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22" name="Text 20"/>
          <p:cNvSpPr/>
          <p:nvPr/>
        </p:nvSpPr>
        <p:spPr>
          <a:xfrm>
            <a:off x="5327809" y="4189571"/>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23" name="Text 21"/>
          <p:cNvSpPr/>
          <p:nvPr/>
        </p:nvSpPr>
        <p:spPr>
          <a:xfrm>
            <a:off x="7544395" y="4189571"/>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24" name="Text 22"/>
          <p:cNvSpPr/>
          <p:nvPr/>
        </p:nvSpPr>
        <p:spPr>
          <a:xfrm>
            <a:off x="9760982" y="4189571"/>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25" name="Text 23"/>
          <p:cNvSpPr/>
          <p:nvPr/>
        </p:nvSpPr>
        <p:spPr>
          <a:xfrm>
            <a:off x="11977568" y="4189571"/>
            <a:ext cx="1632109"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26" name="Shape 24"/>
          <p:cNvSpPr/>
          <p:nvPr/>
        </p:nvSpPr>
        <p:spPr>
          <a:xfrm>
            <a:off x="795576" y="4690110"/>
            <a:ext cx="13039249" cy="642223"/>
          </a:xfrm>
          <a:prstGeom prst="rect">
            <a:avLst/>
          </a:prstGeom>
          <a:solidFill>
            <a:srgbClr val="000000">
              <a:alpha val="4000"/>
            </a:srgbClr>
          </a:solidFill>
          <a:ln/>
        </p:spPr>
      </p:sp>
      <p:sp>
        <p:nvSpPr>
          <p:cNvPr id="27" name="Text 25"/>
          <p:cNvSpPr/>
          <p:nvPr/>
        </p:nvSpPr>
        <p:spPr>
          <a:xfrm>
            <a:off x="1021199" y="4831794"/>
            <a:ext cx="1632109"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Auto Rollback</a:t>
            </a:r>
            <a:endParaRPr lang="en-US" sz="1750" dirty="0"/>
          </a:p>
        </p:txBody>
      </p:sp>
      <p:sp>
        <p:nvSpPr>
          <p:cNvPr id="28" name="Text 26"/>
          <p:cNvSpPr/>
          <p:nvPr/>
        </p:nvSpPr>
        <p:spPr>
          <a:xfrm>
            <a:off x="3111222" y="4831794"/>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29" name="Text 27"/>
          <p:cNvSpPr/>
          <p:nvPr/>
        </p:nvSpPr>
        <p:spPr>
          <a:xfrm>
            <a:off x="5327809" y="4831794"/>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Manual</a:t>
            </a:r>
            <a:endParaRPr lang="en-US" sz="1750" dirty="0"/>
          </a:p>
        </p:txBody>
      </p:sp>
      <p:sp>
        <p:nvSpPr>
          <p:cNvPr id="30" name="Text 28"/>
          <p:cNvSpPr/>
          <p:nvPr/>
        </p:nvSpPr>
        <p:spPr>
          <a:xfrm>
            <a:off x="7544395" y="4831794"/>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Limited</a:t>
            </a:r>
            <a:endParaRPr lang="en-US" sz="1750" dirty="0"/>
          </a:p>
        </p:txBody>
      </p:sp>
      <p:sp>
        <p:nvSpPr>
          <p:cNvPr id="31" name="Text 29"/>
          <p:cNvSpPr/>
          <p:nvPr/>
        </p:nvSpPr>
        <p:spPr>
          <a:xfrm>
            <a:off x="9760982" y="4831794"/>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32" name="Text 30"/>
          <p:cNvSpPr/>
          <p:nvPr/>
        </p:nvSpPr>
        <p:spPr>
          <a:xfrm>
            <a:off x="11977568" y="4831794"/>
            <a:ext cx="1632109"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33" name="Shape 31"/>
          <p:cNvSpPr/>
          <p:nvPr/>
        </p:nvSpPr>
        <p:spPr>
          <a:xfrm>
            <a:off x="795576" y="5332333"/>
            <a:ext cx="13039249" cy="642223"/>
          </a:xfrm>
          <a:prstGeom prst="rect">
            <a:avLst/>
          </a:prstGeom>
          <a:solidFill>
            <a:srgbClr val="FFFFFF">
              <a:alpha val="4000"/>
            </a:srgbClr>
          </a:solidFill>
          <a:ln/>
        </p:spPr>
      </p:sp>
      <p:sp>
        <p:nvSpPr>
          <p:cNvPr id="34" name="Text 32"/>
          <p:cNvSpPr/>
          <p:nvPr/>
        </p:nvSpPr>
        <p:spPr>
          <a:xfrm>
            <a:off x="1021199" y="5474018"/>
            <a:ext cx="1632109"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Simple UI</a:t>
            </a:r>
            <a:endParaRPr lang="en-US" sz="1750" dirty="0"/>
          </a:p>
        </p:txBody>
      </p:sp>
      <p:sp>
        <p:nvSpPr>
          <p:cNvPr id="35" name="Text 33"/>
          <p:cNvSpPr/>
          <p:nvPr/>
        </p:nvSpPr>
        <p:spPr>
          <a:xfrm>
            <a:off x="3111222" y="5474018"/>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36" name="Text 34"/>
          <p:cNvSpPr/>
          <p:nvPr/>
        </p:nvSpPr>
        <p:spPr>
          <a:xfrm>
            <a:off x="5327809" y="5474018"/>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37" name="Text 35"/>
          <p:cNvSpPr/>
          <p:nvPr/>
        </p:nvSpPr>
        <p:spPr>
          <a:xfrm>
            <a:off x="7544395" y="5474018"/>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38" name="Text 36"/>
          <p:cNvSpPr/>
          <p:nvPr/>
        </p:nvSpPr>
        <p:spPr>
          <a:xfrm>
            <a:off x="9760982" y="5474018"/>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39" name="Text 37"/>
          <p:cNvSpPr/>
          <p:nvPr/>
        </p:nvSpPr>
        <p:spPr>
          <a:xfrm>
            <a:off x="11977568" y="5474018"/>
            <a:ext cx="1632109"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40" name="Shape 38"/>
          <p:cNvSpPr/>
          <p:nvPr/>
        </p:nvSpPr>
        <p:spPr>
          <a:xfrm>
            <a:off x="795576" y="5974556"/>
            <a:ext cx="13039249" cy="1001078"/>
          </a:xfrm>
          <a:prstGeom prst="rect">
            <a:avLst/>
          </a:prstGeom>
          <a:solidFill>
            <a:srgbClr val="000000">
              <a:alpha val="4000"/>
            </a:srgbClr>
          </a:solidFill>
          <a:ln/>
        </p:spPr>
      </p:sp>
      <p:sp>
        <p:nvSpPr>
          <p:cNvPr id="41" name="Text 39"/>
          <p:cNvSpPr/>
          <p:nvPr/>
        </p:nvSpPr>
        <p:spPr>
          <a:xfrm>
            <a:off x="1021199" y="6116241"/>
            <a:ext cx="1632109" cy="717709"/>
          </a:xfrm>
          <a:prstGeom prst="rect">
            <a:avLst/>
          </a:prstGeom>
          <a:noFill/>
          <a:ln/>
        </p:spPr>
        <p:txBody>
          <a:bodyPr wrap="squar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Project Versioning</a:t>
            </a:r>
            <a:endParaRPr lang="en-US" sz="1750" dirty="0"/>
          </a:p>
        </p:txBody>
      </p:sp>
      <p:sp>
        <p:nvSpPr>
          <p:cNvPr id="42" name="Text 40"/>
          <p:cNvSpPr/>
          <p:nvPr/>
        </p:nvSpPr>
        <p:spPr>
          <a:xfrm>
            <a:off x="3111222" y="6116241"/>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43" name="Text 41"/>
          <p:cNvSpPr/>
          <p:nvPr/>
        </p:nvSpPr>
        <p:spPr>
          <a:xfrm>
            <a:off x="5327809" y="6116241"/>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44" name="Text 42"/>
          <p:cNvSpPr/>
          <p:nvPr/>
        </p:nvSpPr>
        <p:spPr>
          <a:xfrm>
            <a:off x="7544395" y="6116241"/>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Per-file only</a:t>
            </a:r>
            <a:endParaRPr lang="en-US" sz="1750" dirty="0"/>
          </a:p>
        </p:txBody>
      </p:sp>
      <p:sp>
        <p:nvSpPr>
          <p:cNvPr id="45" name="Text 43"/>
          <p:cNvSpPr/>
          <p:nvPr/>
        </p:nvSpPr>
        <p:spPr>
          <a:xfrm>
            <a:off x="9760982" y="6116241"/>
            <a:ext cx="1758672"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46" name="Text 44"/>
          <p:cNvSpPr/>
          <p:nvPr/>
        </p:nvSpPr>
        <p:spPr>
          <a:xfrm>
            <a:off x="11977568" y="6116241"/>
            <a:ext cx="1632109" cy="358854"/>
          </a:xfrm>
          <a:prstGeom prst="rect">
            <a:avLst/>
          </a:prstGeom>
          <a:noFill/>
          <a:ln/>
        </p:spPr>
        <p:txBody>
          <a:bodyPr wrap="none" lIns="0" tIns="0" rIns="0" bIns="0" rtlCol="0" anchor="t"/>
          <a:lstStyle/>
          <a:p>
            <a:pPr marL="0" indent="0" algn="l">
              <a:lnSpc>
                <a:spcPts val="2800"/>
              </a:lnSpc>
              <a:buNone/>
            </a:pPr>
            <a:r>
              <a:rPr lang="en-US" sz="1750" dirty="0">
                <a:solidFill>
                  <a:srgbClr val="15213F"/>
                </a:solidFill>
                <a:latin typeface="Roboto" pitchFamily="34" charset="0"/>
                <a:ea typeface="Roboto" pitchFamily="34" charset="-122"/>
                <a:cs typeface="Roboto" pitchFamily="34" charset="-120"/>
              </a:rPr>
              <a:t>✗</a:t>
            </a:r>
            <a:endParaRPr lang="en-US" sz="1750" dirty="0"/>
          </a:p>
        </p:txBody>
      </p:sp>
      <p:sp>
        <p:nvSpPr>
          <p:cNvPr id="47" name="Text 45"/>
          <p:cNvSpPr/>
          <p:nvPr/>
        </p:nvSpPr>
        <p:spPr>
          <a:xfrm>
            <a:off x="787956" y="7234595"/>
            <a:ext cx="13054489" cy="358854"/>
          </a:xfrm>
          <a:prstGeom prst="rect">
            <a:avLst/>
          </a:prstGeom>
          <a:noFill/>
          <a:ln/>
        </p:spPr>
        <p:txBody>
          <a:bodyPr wrap="none" lIns="0" tIns="0" rIns="0" bIns="0" rtlCol="0" anchor="t"/>
          <a:lstStyle/>
          <a:p>
            <a:pPr marL="0" indent="0" algn="l">
              <a:lnSpc>
                <a:spcPts val="2800"/>
              </a:lnSpc>
              <a:buNone/>
            </a:pPr>
            <a:r>
              <a:rPr lang="en-US" sz="1750" b="1" dirty="0">
                <a:solidFill>
                  <a:srgbClr val="3257B8"/>
                </a:solidFill>
                <a:latin typeface="Roboto" pitchFamily="34" charset="0"/>
                <a:ea typeface="Roboto" pitchFamily="34" charset="-122"/>
                <a:cs typeface="Roboto" pitchFamily="34" charset="-120"/>
              </a:rPr>
              <a:t>Highlight ProjectVault's unique combo of academic focus + visual timeline + auto rollback</a:t>
            </a:r>
            <a:endParaRPr lang="en-US" sz="1750" dirty="0"/>
          </a:p>
        </p:txBody>
      </p:sp>
      <p:sp>
        <p:nvSpPr>
          <p:cNvPr id="48" name="Rectangle 47">
            <a:extLst>
              <a:ext uri="{FF2B5EF4-FFF2-40B4-BE49-F238E27FC236}">
                <a16:creationId xmlns:a16="http://schemas.microsoft.com/office/drawing/2014/main" id="{E66660A7-FBDF-A3D5-15A7-644A715BECE9}"/>
              </a:ext>
            </a:extLst>
          </p:cNvPr>
          <p:cNvSpPr/>
          <p:nvPr/>
        </p:nvSpPr>
        <p:spPr>
          <a:xfrm>
            <a:off x="12881113" y="7765774"/>
            <a:ext cx="1656522" cy="362903"/>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371838"/>
            <a:ext cx="10122575"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Learning Outcomes / Personal Benefit</a:t>
            </a:r>
            <a:endParaRPr lang="en-US" sz="4450" dirty="0"/>
          </a:p>
        </p:txBody>
      </p:sp>
      <p:sp>
        <p:nvSpPr>
          <p:cNvPr id="3" name="Shape 1"/>
          <p:cNvSpPr/>
          <p:nvPr/>
        </p:nvSpPr>
        <p:spPr>
          <a:xfrm>
            <a:off x="793790" y="2534245"/>
            <a:ext cx="6407944" cy="2048351"/>
          </a:xfrm>
          <a:prstGeom prst="roundRect">
            <a:avLst>
              <a:gd name="adj" fmla="val 1661"/>
            </a:avLst>
          </a:prstGeom>
          <a:solidFill>
            <a:srgbClr val="FBFCFE"/>
          </a:solidFill>
          <a:ln w="30480">
            <a:solidFill>
              <a:srgbClr val="CFD2D8"/>
            </a:solidFill>
            <a:prstDash val="solid"/>
          </a:ln>
        </p:spPr>
      </p:sp>
      <p:sp>
        <p:nvSpPr>
          <p:cNvPr id="4" name="Shape 2"/>
          <p:cNvSpPr/>
          <p:nvPr/>
        </p:nvSpPr>
        <p:spPr>
          <a:xfrm>
            <a:off x="824270" y="2564725"/>
            <a:ext cx="6346984" cy="680442"/>
          </a:xfrm>
          <a:prstGeom prst="rect">
            <a:avLst/>
          </a:prstGeom>
          <a:solidFill>
            <a:srgbClr val="E9ECF2"/>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27621" y="2734747"/>
            <a:ext cx="340162" cy="340162"/>
          </a:xfrm>
          <a:prstGeom prst="rect">
            <a:avLst/>
          </a:prstGeom>
        </p:spPr>
      </p:pic>
      <p:sp>
        <p:nvSpPr>
          <p:cNvPr id="6" name="Text 3"/>
          <p:cNvSpPr/>
          <p:nvPr/>
        </p:nvSpPr>
        <p:spPr>
          <a:xfrm>
            <a:off x="1051084" y="3471982"/>
            <a:ext cx="2956441"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Full-Stack Experience</a:t>
            </a:r>
            <a:endParaRPr lang="en-US" sz="2200" dirty="0"/>
          </a:p>
        </p:txBody>
      </p:sp>
      <p:sp>
        <p:nvSpPr>
          <p:cNvPr id="7" name="Text 4"/>
          <p:cNvSpPr/>
          <p:nvPr/>
        </p:nvSpPr>
        <p:spPr>
          <a:xfrm>
            <a:off x="1051084" y="3962400"/>
            <a:ext cx="5893356"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Full-stack product dev experience</a:t>
            </a:r>
            <a:endParaRPr lang="en-US" sz="1750" dirty="0"/>
          </a:p>
        </p:txBody>
      </p:sp>
      <p:sp>
        <p:nvSpPr>
          <p:cNvPr id="8" name="Shape 5"/>
          <p:cNvSpPr/>
          <p:nvPr/>
        </p:nvSpPr>
        <p:spPr>
          <a:xfrm>
            <a:off x="7428548" y="2534245"/>
            <a:ext cx="6408063" cy="2048351"/>
          </a:xfrm>
          <a:prstGeom prst="roundRect">
            <a:avLst>
              <a:gd name="adj" fmla="val 1661"/>
            </a:avLst>
          </a:prstGeom>
          <a:solidFill>
            <a:srgbClr val="FBFCFE"/>
          </a:solidFill>
          <a:ln w="30480">
            <a:solidFill>
              <a:srgbClr val="CFD2D8"/>
            </a:solidFill>
            <a:prstDash val="solid"/>
          </a:ln>
        </p:spPr>
      </p:sp>
      <p:sp>
        <p:nvSpPr>
          <p:cNvPr id="9" name="Shape 6"/>
          <p:cNvSpPr/>
          <p:nvPr/>
        </p:nvSpPr>
        <p:spPr>
          <a:xfrm>
            <a:off x="7459027" y="2564725"/>
            <a:ext cx="6347103" cy="680442"/>
          </a:xfrm>
          <a:prstGeom prst="rect">
            <a:avLst/>
          </a:prstGeom>
          <a:solidFill>
            <a:srgbClr val="E9ECF2"/>
          </a:solidFill>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62498" y="2734747"/>
            <a:ext cx="340162" cy="340162"/>
          </a:xfrm>
          <a:prstGeom prst="rect">
            <a:avLst/>
          </a:prstGeom>
        </p:spPr>
      </p:pic>
      <p:sp>
        <p:nvSpPr>
          <p:cNvPr id="11" name="Text 7"/>
          <p:cNvSpPr/>
          <p:nvPr/>
        </p:nvSpPr>
        <p:spPr>
          <a:xfrm>
            <a:off x="7685842" y="347198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Technical Skills</a:t>
            </a:r>
            <a:endParaRPr lang="en-US" sz="2200" dirty="0"/>
          </a:p>
        </p:txBody>
      </p:sp>
      <p:sp>
        <p:nvSpPr>
          <p:cNvPr id="12" name="Text 8"/>
          <p:cNvSpPr/>
          <p:nvPr/>
        </p:nvSpPr>
        <p:spPr>
          <a:xfrm>
            <a:off x="7685842" y="3962400"/>
            <a:ext cx="5893475"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Hands-on with backend systems, databases, deployment</a:t>
            </a:r>
            <a:endParaRPr lang="en-US" sz="1750" dirty="0"/>
          </a:p>
        </p:txBody>
      </p:sp>
      <p:sp>
        <p:nvSpPr>
          <p:cNvPr id="13" name="Shape 9"/>
          <p:cNvSpPr/>
          <p:nvPr/>
        </p:nvSpPr>
        <p:spPr>
          <a:xfrm>
            <a:off x="793790" y="4809411"/>
            <a:ext cx="6407944" cy="2048351"/>
          </a:xfrm>
          <a:prstGeom prst="roundRect">
            <a:avLst>
              <a:gd name="adj" fmla="val 1661"/>
            </a:avLst>
          </a:prstGeom>
          <a:solidFill>
            <a:srgbClr val="FBFCFE"/>
          </a:solidFill>
          <a:ln w="30480">
            <a:solidFill>
              <a:srgbClr val="CFD2D8"/>
            </a:solidFill>
            <a:prstDash val="solid"/>
          </a:ln>
        </p:spPr>
      </p:sp>
      <p:sp>
        <p:nvSpPr>
          <p:cNvPr id="14" name="Shape 10"/>
          <p:cNvSpPr/>
          <p:nvPr/>
        </p:nvSpPr>
        <p:spPr>
          <a:xfrm>
            <a:off x="824270" y="4839891"/>
            <a:ext cx="6346984" cy="680442"/>
          </a:xfrm>
          <a:prstGeom prst="rect">
            <a:avLst/>
          </a:prstGeom>
          <a:solidFill>
            <a:srgbClr val="E9ECF2"/>
          </a:solidFill>
          <a:ln/>
        </p:spPr>
      </p:sp>
      <p:pic>
        <p:nvPicPr>
          <p:cNvPr id="15"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27621" y="5009912"/>
            <a:ext cx="340162" cy="340162"/>
          </a:xfrm>
          <a:prstGeom prst="rect">
            <a:avLst/>
          </a:prstGeom>
        </p:spPr>
      </p:pic>
      <p:sp>
        <p:nvSpPr>
          <p:cNvPr id="16" name="Text 11"/>
          <p:cNvSpPr/>
          <p:nvPr/>
        </p:nvSpPr>
        <p:spPr>
          <a:xfrm>
            <a:off x="1051084" y="574714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Problem Solving</a:t>
            </a:r>
            <a:endParaRPr lang="en-US" sz="2200" dirty="0"/>
          </a:p>
        </p:txBody>
      </p:sp>
      <p:sp>
        <p:nvSpPr>
          <p:cNvPr id="17" name="Text 12"/>
          <p:cNvSpPr/>
          <p:nvPr/>
        </p:nvSpPr>
        <p:spPr>
          <a:xfrm>
            <a:off x="1051084" y="6237565"/>
            <a:ext cx="5893356"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Solving a real academic problem = confidence boost</a:t>
            </a:r>
            <a:endParaRPr lang="en-US" sz="1750" dirty="0"/>
          </a:p>
        </p:txBody>
      </p:sp>
      <p:sp>
        <p:nvSpPr>
          <p:cNvPr id="18" name="Shape 13"/>
          <p:cNvSpPr/>
          <p:nvPr/>
        </p:nvSpPr>
        <p:spPr>
          <a:xfrm>
            <a:off x="7428548" y="4809411"/>
            <a:ext cx="6408063" cy="2048351"/>
          </a:xfrm>
          <a:prstGeom prst="roundRect">
            <a:avLst>
              <a:gd name="adj" fmla="val 1661"/>
            </a:avLst>
          </a:prstGeom>
          <a:solidFill>
            <a:srgbClr val="FBFCFE"/>
          </a:solidFill>
          <a:ln w="30480">
            <a:solidFill>
              <a:srgbClr val="CFD2D8"/>
            </a:solidFill>
            <a:prstDash val="solid"/>
          </a:ln>
        </p:spPr>
      </p:sp>
      <p:sp>
        <p:nvSpPr>
          <p:cNvPr id="19" name="Shape 14"/>
          <p:cNvSpPr/>
          <p:nvPr/>
        </p:nvSpPr>
        <p:spPr>
          <a:xfrm>
            <a:off x="7459027" y="4839891"/>
            <a:ext cx="6347103" cy="680442"/>
          </a:xfrm>
          <a:prstGeom prst="rect">
            <a:avLst/>
          </a:prstGeom>
          <a:solidFill>
            <a:srgbClr val="E9ECF2"/>
          </a:solidFill>
          <a:ln/>
        </p:spPr>
      </p:sp>
      <p:pic>
        <p:nvPicPr>
          <p:cNvPr id="20"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462498" y="5009912"/>
            <a:ext cx="340162" cy="340162"/>
          </a:xfrm>
          <a:prstGeom prst="rect">
            <a:avLst/>
          </a:prstGeom>
        </p:spPr>
      </p:pic>
      <p:sp>
        <p:nvSpPr>
          <p:cNvPr id="21" name="Text 15"/>
          <p:cNvSpPr/>
          <p:nvPr/>
        </p:nvSpPr>
        <p:spPr>
          <a:xfrm>
            <a:off x="7685842" y="574714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Career Growth</a:t>
            </a:r>
            <a:endParaRPr lang="en-US" sz="2200" dirty="0"/>
          </a:p>
        </p:txBody>
      </p:sp>
      <p:sp>
        <p:nvSpPr>
          <p:cNvPr id="22" name="Text 16"/>
          <p:cNvSpPr/>
          <p:nvPr/>
        </p:nvSpPr>
        <p:spPr>
          <a:xfrm>
            <a:off x="7685842" y="6237565"/>
            <a:ext cx="5893475"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Great for portfolio + internships + open source exposure</a:t>
            </a:r>
            <a:endParaRPr lang="en-US" sz="1750" dirty="0"/>
          </a:p>
        </p:txBody>
      </p:sp>
      <p:sp>
        <p:nvSpPr>
          <p:cNvPr id="23" name="Rectangle 22">
            <a:extLst>
              <a:ext uri="{FF2B5EF4-FFF2-40B4-BE49-F238E27FC236}">
                <a16:creationId xmlns:a16="http://schemas.microsoft.com/office/drawing/2014/main" id="{0E5A4D95-8D0F-AD67-CFFD-A852D827E645}"/>
              </a:ext>
            </a:extLst>
          </p:cNvPr>
          <p:cNvSpPr/>
          <p:nvPr/>
        </p:nvSpPr>
        <p:spPr>
          <a:xfrm>
            <a:off x="12881113" y="7765774"/>
            <a:ext cx="1656522" cy="362903"/>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924169"/>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Future Scope</a:t>
            </a:r>
            <a:endParaRPr lang="en-US" sz="4450" dirty="0"/>
          </a:p>
        </p:txBody>
      </p:sp>
      <p:sp>
        <p:nvSpPr>
          <p:cNvPr id="3" name="Text 1"/>
          <p:cNvSpPr/>
          <p:nvPr/>
        </p:nvSpPr>
        <p:spPr>
          <a:xfrm>
            <a:off x="793790" y="297311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01</a:t>
            </a:r>
            <a:endParaRPr lang="en-US" sz="1750" dirty="0"/>
          </a:p>
        </p:txBody>
      </p:sp>
      <p:pic>
        <p:nvPicPr>
          <p:cNvPr id="4" name="Image 0" descr="preencoded.png"/>
          <p:cNvPicPr>
            <a:picLocks noChangeAspect="1"/>
          </p:cNvPicPr>
          <p:nvPr/>
        </p:nvPicPr>
        <p:blipFill>
          <a:blip r:embed="rId3"/>
          <a:stretch>
            <a:fillRect/>
          </a:stretch>
        </p:blipFill>
        <p:spPr>
          <a:xfrm>
            <a:off x="793790" y="3328154"/>
            <a:ext cx="6407944" cy="30480"/>
          </a:xfrm>
          <a:prstGeom prst="rect">
            <a:avLst/>
          </a:prstGeom>
        </p:spPr>
      </p:pic>
      <p:sp>
        <p:nvSpPr>
          <p:cNvPr id="5" name="Text 2"/>
          <p:cNvSpPr/>
          <p:nvPr/>
        </p:nvSpPr>
        <p:spPr>
          <a:xfrm>
            <a:off x="793790" y="350246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Instructor Portal</a:t>
            </a:r>
            <a:endParaRPr lang="en-US" sz="2200" dirty="0"/>
          </a:p>
        </p:txBody>
      </p:sp>
      <p:sp>
        <p:nvSpPr>
          <p:cNvPr id="6" name="Text 3"/>
          <p:cNvSpPr/>
          <p:nvPr/>
        </p:nvSpPr>
        <p:spPr>
          <a:xfrm>
            <a:off x="793790" y="3992880"/>
            <a:ext cx="6407944"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Instructor portal for version-based grading</a:t>
            </a:r>
            <a:endParaRPr lang="en-US" sz="1750" dirty="0"/>
          </a:p>
        </p:txBody>
      </p:sp>
      <p:sp>
        <p:nvSpPr>
          <p:cNvPr id="7" name="Text 4"/>
          <p:cNvSpPr/>
          <p:nvPr/>
        </p:nvSpPr>
        <p:spPr>
          <a:xfrm>
            <a:off x="7428548" y="297311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02</a:t>
            </a:r>
            <a:endParaRPr lang="en-US" sz="1750" dirty="0"/>
          </a:p>
        </p:txBody>
      </p:sp>
      <p:pic>
        <p:nvPicPr>
          <p:cNvPr id="8" name="Image 1" descr="preencoded.png"/>
          <p:cNvPicPr>
            <a:picLocks noChangeAspect="1"/>
          </p:cNvPicPr>
          <p:nvPr/>
        </p:nvPicPr>
        <p:blipFill>
          <a:blip r:embed="rId3"/>
          <a:stretch>
            <a:fillRect/>
          </a:stretch>
        </p:blipFill>
        <p:spPr>
          <a:xfrm>
            <a:off x="7428548" y="3328154"/>
            <a:ext cx="6408063" cy="30480"/>
          </a:xfrm>
          <a:prstGeom prst="rect">
            <a:avLst/>
          </a:prstGeom>
        </p:spPr>
      </p:pic>
      <p:sp>
        <p:nvSpPr>
          <p:cNvPr id="9" name="Text 5"/>
          <p:cNvSpPr/>
          <p:nvPr/>
        </p:nvSpPr>
        <p:spPr>
          <a:xfrm>
            <a:off x="7428548" y="3502462"/>
            <a:ext cx="3009781"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Collaboration Features</a:t>
            </a:r>
            <a:endParaRPr lang="en-US" sz="2200" dirty="0"/>
          </a:p>
        </p:txBody>
      </p:sp>
      <p:sp>
        <p:nvSpPr>
          <p:cNvPr id="10" name="Text 6"/>
          <p:cNvSpPr/>
          <p:nvPr/>
        </p:nvSpPr>
        <p:spPr>
          <a:xfrm>
            <a:off x="7428548" y="3992880"/>
            <a:ext cx="6408063"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Commenting &amp; collaboration within versions</a:t>
            </a:r>
            <a:endParaRPr lang="en-US" sz="1750" dirty="0"/>
          </a:p>
        </p:txBody>
      </p:sp>
      <p:sp>
        <p:nvSpPr>
          <p:cNvPr id="11" name="Text 7"/>
          <p:cNvSpPr/>
          <p:nvPr/>
        </p:nvSpPr>
        <p:spPr>
          <a:xfrm>
            <a:off x="793790" y="475261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03</a:t>
            </a:r>
            <a:endParaRPr lang="en-US" sz="1750" dirty="0"/>
          </a:p>
        </p:txBody>
      </p:sp>
      <p:pic>
        <p:nvPicPr>
          <p:cNvPr id="12" name="Image 2" descr="preencoded.png"/>
          <p:cNvPicPr>
            <a:picLocks noChangeAspect="1"/>
          </p:cNvPicPr>
          <p:nvPr/>
        </p:nvPicPr>
        <p:blipFill>
          <a:blip r:embed="rId3"/>
          <a:stretch>
            <a:fillRect/>
          </a:stretch>
        </p:blipFill>
        <p:spPr>
          <a:xfrm>
            <a:off x="793790" y="5085040"/>
            <a:ext cx="6407944" cy="30480"/>
          </a:xfrm>
          <a:prstGeom prst="rect">
            <a:avLst/>
          </a:prstGeom>
        </p:spPr>
      </p:pic>
      <p:sp>
        <p:nvSpPr>
          <p:cNvPr id="13" name="Text 8"/>
          <p:cNvSpPr/>
          <p:nvPr/>
        </p:nvSpPr>
        <p:spPr>
          <a:xfrm>
            <a:off x="793790" y="528197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LMS Integration</a:t>
            </a:r>
            <a:endParaRPr lang="en-US" sz="2200" dirty="0"/>
          </a:p>
        </p:txBody>
      </p:sp>
      <p:sp>
        <p:nvSpPr>
          <p:cNvPr id="14" name="Text 9"/>
          <p:cNvSpPr/>
          <p:nvPr/>
        </p:nvSpPr>
        <p:spPr>
          <a:xfrm>
            <a:off x="793790" y="5772388"/>
            <a:ext cx="6407944"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LMS plugins for Canvas/Moodle integration</a:t>
            </a:r>
            <a:endParaRPr lang="en-US" sz="1750" dirty="0"/>
          </a:p>
        </p:txBody>
      </p:sp>
      <p:sp>
        <p:nvSpPr>
          <p:cNvPr id="15" name="Text 10"/>
          <p:cNvSpPr/>
          <p:nvPr/>
        </p:nvSpPr>
        <p:spPr>
          <a:xfrm>
            <a:off x="7428548" y="475261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04</a:t>
            </a:r>
            <a:endParaRPr lang="en-US" sz="1750" dirty="0"/>
          </a:p>
        </p:txBody>
      </p:sp>
      <p:pic>
        <p:nvPicPr>
          <p:cNvPr id="16" name="Image 3" descr="preencoded.png"/>
          <p:cNvPicPr>
            <a:picLocks noChangeAspect="1"/>
          </p:cNvPicPr>
          <p:nvPr/>
        </p:nvPicPr>
        <p:blipFill>
          <a:blip r:embed="rId3"/>
          <a:stretch>
            <a:fillRect/>
          </a:stretch>
        </p:blipFill>
        <p:spPr>
          <a:xfrm>
            <a:off x="7428548" y="5085040"/>
            <a:ext cx="6408063" cy="30480"/>
          </a:xfrm>
          <a:prstGeom prst="rect">
            <a:avLst/>
          </a:prstGeom>
        </p:spPr>
      </p:pic>
      <p:sp>
        <p:nvSpPr>
          <p:cNvPr id="17" name="Text 11"/>
          <p:cNvSpPr/>
          <p:nvPr/>
        </p:nvSpPr>
        <p:spPr>
          <a:xfrm>
            <a:off x="7428548" y="5281970"/>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Public Profiles</a:t>
            </a:r>
            <a:endParaRPr lang="en-US" sz="2200" dirty="0"/>
          </a:p>
        </p:txBody>
      </p:sp>
      <p:sp>
        <p:nvSpPr>
          <p:cNvPr id="18" name="Text 12"/>
          <p:cNvSpPr/>
          <p:nvPr/>
        </p:nvSpPr>
        <p:spPr>
          <a:xfrm>
            <a:off x="7428548" y="5772388"/>
            <a:ext cx="6408063" cy="362903"/>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pitchFamily="34" charset="0"/>
                <a:ea typeface="Roboto" pitchFamily="34" charset="-122"/>
                <a:cs typeface="Roboto" pitchFamily="34" charset="-120"/>
              </a:rPr>
              <a:t>Public project profiles (academic GitHub style)</a:t>
            </a:r>
            <a:endParaRPr lang="en-US" sz="1750" dirty="0"/>
          </a:p>
        </p:txBody>
      </p:sp>
      <p:sp>
        <p:nvSpPr>
          <p:cNvPr id="19" name="Rectangle 18">
            <a:extLst>
              <a:ext uri="{FF2B5EF4-FFF2-40B4-BE49-F238E27FC236}">
                <a16:creationId xmlns:a16="http://schemas.microsoft.com/office/drawing/2014/main" id="{F33E3847-2C5A-22DD-9FE9-07B1F11936A4}"/>
              </a:ext>
            </a:extLst>
          </p:cNvPr>
          <p:cNvSpPr/>
          <p:nvPr/>
        </p:nvSpPr>
        <p:spPr>
          <a:xfrm>
            <a:off x="12881113" y="7765774"/>
            <a:ext cx="1656522" cy="362903"/>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667</Words>
  <Application>Microsoft Office PowerPoint</Application>
  <PresentationFormat>Custom</PresentationFormat>
  <Paragraphs>154</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Roboto Slab</vt:lpstr>
      <vt:lpstr>Arial</vt:lpstr>
      <vt:lpstr>Roboto Slab Light</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NITIN KUMAR</cp:lastModifiedBy>
  <cp:revision>3</cp:revision>
  <dcterms:created xsi:type="dcterms:W3CDTF">2026-02-07T05:34:48Z</dcterms:created>
  <dcterms:modified xsi:type="dcterms:W3CDTF">2026-02-07T05:46:16Z</dcterms:modified>
</cp:coreProperties>
</file>