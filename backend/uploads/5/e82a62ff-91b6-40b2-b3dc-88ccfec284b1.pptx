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69" r:id="rId3"/>
    <p:sldId id="257" r:id="rId4"/>
    <p:sldId id="267" r:id="rId5"/>
    <p:sldId id="259" r:id="rId6"/>
    <p:sldId id="260" r:id="rId7"/>
    <p:sldId id="261" r:id="rId8"/>
    <p:sldId id="262" r:id="rId9"/>
    <p:sldId id="263" r:id="rId10"/>
    <p:sldId id="264" r:id="rId11"/>
    <p:sldId id="265" r:id="rId12"/>
    <p:sldId id="266" r:id="rId13"/>
    <p:sldId id="268" r:id="rId14"/>
  </p:sldIdLst>
  <p:sldSz cx="14630400" cy="8229600"/>
  <p:notesSz cx="8229600" cy="14630400"/>
  <p:embeddedFontLst>
    <p:embeddedFont>
      <p:font typeface="Roboto" panose="02000000000000000000" pitchFamily="2" charset="0"/>
      <p:regular r:id="rId16"/>
      <p:bold r:id="rId17"/>
      <p:italic r:id="rId18"/>
    </p:embeddedFont>
    <p:embeddedFont>
      <p:font typeface="Roboto Slab" pitchFamily="2" charset="0"/>
      <p:regular r:id="rId19"/>
      <p:bold r:id="rId20"/>
    </p:embeddedFont>
    <p:embeddedFont>
      <p:font typeface="Roboto Slab Light" pitchFamily="2"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C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7144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1331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ProjectVault — Academic Version Control System</a:t>
            </a:r>
            <a:endParaRPr lang="en-US" sz="4450" dirty="0"/>
          </a:p>
        </p:txBody>
      </p:sp>
      <p:sp>
        <p:nvSpPr>
          <p:cNvPr id="4" name="Text 1"/>
          <p:cNvSpPr/>
          <p:nvPr/>
        </p:nvSpPr>
        <p:spPr>
          <a:xfrm>
            <a:off x="793790" y="3641407"/>
            <a:ext cx="7556421" cy="1133951"/>
          </a:xfrm>
          <a:prstGeom prst="rect">
            <a:avLst/>
          </a:prstGeom>
          <a:noFill/>
          <a:ln/>
        </p:spPr>
        <p:txBody>
          <a:bodyPr wrap="square" lIns="0" tIns="0" rIns="0" bIns="0" rtlCol="0" anchor="t"/>
          <a:lstStyle/>
          <a:p>
            <a:pPr marL="0" indent="0" algn="l">
              <a:lnSpc>
                <a:spcPts val="4450"/>
              </a:lnSpc>
              <a:buNone/>
            </a:pPr>
            <a:r>
              <a:rPr lang="en-US" sz="3550" dirty="0">
                <a:solidFill>
                  <a:srgbClr val="3257B8"/>
                </a:solidFill>
                <a:latin typeface="Roboto Slab" pitchFamily="34" charset="0"/>
                <a:ea typeface="Roboto Slab" pitchFamily="34" charset="-122"/>
                <a:cs typeface="Roboto Slab" pitchFamily="34" charset="-120"/>
              </a:rPr>
              <a:t>Simple, visual version tracking for student projects</a:t>
            </a:r>
            <a:endParaRPr lang="en-US" sz="3550" dirty="0"/>
          </a:p>
        </p:txBody>
      </p:sp>
      <p:sp>
        <p:nvSpPr>
          <p:cNvPr id="6" name="Text 2">
            <a:extLst>
              <a:ext uri="{FF2B5EF4-FFF2-40B4-BE49-F238E27FC236}">
                <a16:creationId xmlns:a16="http://schemas.microsoft.com/office/drawing/2014/main" id="{B7636809-D57A-9CE9-A91C-A56EABE9F096}"/>
              </a:ext>
            </a:extLst>
          </p:cNvPr>
          <p:cNvSpPr/>
          <p:nvPr/>
        </p:nvSpPr>
        <p:spPr>
          <a:xfrm>
            <a:off x="793790" y="5343522"/>
            <a:ext cx="7769185" cy="1891189"/>
          </a:xfrm>
          <a:prstGeom prst="rect">
            <a:avLst/>
          </a:prstGeom>
          <a:noFill/>
          <a:ln/>
        </p:spPr>
        <p:txBody>
          <a:bodyPr wrap="none" lIns="0" tIns="0" rIns="0" bIns="0" rtlCol="0" anchor="t"/>
          <a:lstStyle/>
          <a:p>
            <a:pPr>
              <a:lnSpc>
                <a:spcPts val="2850"/>
              </a:lnSpc>
            </a:pPr>
            <a:r>
              <a:rPr lang="en-US" sz="1750" i="1" dirty="0">
                <a:solidFill>
                  <a:srgbClr val="15213F"/>
                </a:solidFill>
                <a:latin typeface="Roboto" pitchFamily="34" charset="0"/>
                <a:ea typeface="Roboto" pitchFamily="34" charset="-122"/>
                <a:cs typeface="Roboto" pitchFamily="34" charset="-120"/>
              </a:rPr>
              <a:t>M. Manaswini    - 24BTRCT160</a:t>
            </a:r>
          </a:p>
          <a:p>
            <a:pPr>
              <a:lnSpc>
                <a:spcPts val="2850"/>
              </a:lnSpc>
            </a:pPr>
            <a:r>
              <a:rPr lang="en-US" sz="1750" i="1" dirty="0">
                <a:solidFill>
                  <a:srgbClr val="15213F"/>
                </a:solidFill>
                <a:latin typeface="Roboto" pitchFamily="34" charset="0"/>
                <a:ea typeface="Roboto" pitchFamily="34" charset="-122"/>
                <a:cs typeface="Roboto" pitchFamily="34" charset="-120"/>
              </a:rPr>
              <a:t>Diya J                 - 24BTRIS057</a:t>
            </a:r>
          </a:p>
          <a:p>
            <a:pPr>
              <a:lnSpc>
                <a:spcPts val="2850"/>
              </a:lnSpc>
            </a:pPr>
            <a:r>
              <a:rPr lang="en-US" sz="1750" i="1" dirty="0">
                <a:solidFill>
                  <a:srgbClr val="15213F"/>
                </a:solidFill>
                <a:latin typeface="Roboto" pitchFamily="34" charset="0"/>
                <a:ea typeface="Roboto" pitchFamily="34" charset="-122"/>
                <a:cs typeface="Roboto" pitchFamily="34" charset="-120"/>
              </a:rPr>
              <a:t>Krish Sakaria  - 24BTLCC003</a:t>
            </a:r>
          </a:p>
          <a:p>
            <a:pPr>
              <a:lnSpc>
                <a:spcPts val="2850"/>
              </a:lnSpc>
            </a:pPr>
            <a:r>
              <a:rPr lang="en-US" sz="1750" i="1" dirty="0">
                <a:solidFill>
                  <a:srgbClr val="15213F"/>
                </a:solidFill>
                <a:latin typeface="Roboto" pitchFamily="34" charset="0"/>
                <a:ea typeface="Roboto" pitchFamily="34" charset="-122"/>
                <a:cs typeface="Roboto" pitchFamily="34" charset="-120"/>
              </a:rPr>
              <a:t>D Nitin Kumar   - 24BTRCM008</a:t>
            </a:r>
          </a:p>
          <a:p>
            <a:pPr>
              <a:lnSpc>
                <a:spcPts val="2850"/>
              </a:lnSpc>
            </a:pPr>
            <a:endParaRPr lang="en-US" sz="1750" dirty="0"/>
          </a:p>
        </p:txBody>
      </p:sp>
      <p:sp>
        <p:nvSpPr>
          <p:cNvPr id="5" name="Text 2">
            <a:extLst>
              <a:ext uri="{FF2B5EF4-FFF2-40B4-BE49-F238E27FC236}">
                <a16:creationId xmlns:a16="http://schemas.microsoft.com/office/drawing/2014/main" id="{8A2A6D92-5D63-7F5F-B7DC-C15AA7C5FFAE}"/>
              </a:ext>
            </a:extLst>
          </p:cNvPr>
          <p:cNvSpPr/>
          <p:nvPr/>
        </p:nvSpPr>
        <p:spPr>
          <a:xfrm>
            <a:off x="4862513" y="5657702"/>
            <a:ext cx="7769185" cy="805487"/>
          </a:xfrm>
          <a:prstGeom prst="rect">
            <a:avLst/>
          </a:prstGeom>
          <a:noFill/>
          <a:ln/>
        </p:spPr>
        <p:txBody>
          <a:bodyPr wrap="none" lIns="0" tIns="0" rIns="0" bIns="0" rtlCol="0" anchor="t"/>
          <a:lstStyle/>
          <a:p>
            <a:pPr>
              <a:lnSpc>
                <a:spcPts val="2850"/>
              </a:lnSpc>
            </a:pPr>
            <a:r>
              <a:rPr lang="en-US" sz="1750" i="1" dirty="0">
                <a:solidFill>
                  <a:srgbClr val="15213F"/>
                </a:solidFill>
                <a:latin typeface="Roboto" pitchFamily="34" charset="0"/>
                <a:ea typeface="Roboto" pitchFamily="34" charset="-122"/>
                <a:cs typeface="Roboto" pitchFamily="34" charset="-120"/>
              </a:rPr>
              <a:t>Guide1 - Dr. Srinivasa Rao</a:t>
            </a:r>
          </a:p>
          <a:p>
            <a:pPr>
              <a:lnSpc>
                <a:spcPts val="2850"/>
              </a:lnSpc>
            </a:pPr>
            <a:r>
              <a:rPr lang="en-US" sz="1750" i="1" dirty="0">
                <a:solidFill>
                  <a:srgbClr val="15213F"/>
                </a:solidFill>
                <a:latin typeface="Roboto" pitchFamily="34" charset="0"/>
                <a:ea typeface="Roboto" pitchFamily="34" charset="-122"/>
                <a:cs typeface="Roboto" pitchFamily="34" charset="-120"/>
              </a:rPr>
              <a:t>Guide 2 - Dr. Tamilvelan M</a:t>
            </a:r>
          </a:p>
          <a:p>
            <a:pPr>
              <a:lnSpc>
                <a:spcPts val="2850"/>
              </a:lnSpc>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83293"/>
            <a:ext cx="6388888" cy="921368"/>
          </a:xfrm>
          <a:prstGeom prst="rect">
            <a:avLst/>
          </a:prstGeom>
          <a:noFill/>
          <a:ln/>
        </p:spPr>
        <p:txBody>
          <a:bodyPr wrap="none" lIns="0" tIns="0" rIns="0" bIns="0" rtlCol="0" anchor="t"/>
          <a:lstStyle/>
          <a:p>
            <a:pPr marL="0" indent="0" algn="l">
              <a:lnSpc>
                <a:spcPts val="5550"/>
              </a:lnSpc>
              <a:buNone/>
            </a:pPr>
            <a:r>
              <a:rPr lang="en-US" sz="5000" dirty="0">
                <a:solidFill>
                  <a:srgbClr val="3257B8"/>
                </a:solidFill>
                <a:latin typeface="Roboto Slab" pitchFamily="34" charset="0"/>
                <a:ea typeface="Roboto Slab" pitchFamily="34" charset="-122"/>
                <a:cs typeface="Roboto Slab" pitchFamily="34" charset="-120"/>
              </a:rPr>
              <a:t>Table of Contents</a:t>
            </a:r>
            <a:endParaRPr lang="en-US" sz="5000" dirty="0"/>
          </a:p>
        </p:txBody>
      </p:sp>
      <p:sp>
        <p:nvSpPr>
          <p:cNvPr id="3" name="Text 1"/>
          <p:cNvSpPr/>
          <p:nvPr/>
        </p:nvSpPr>
        <p:spPr>
          <a:xfrm>
            <a:off x="793790" y="2745700"/>
            <a:ext cx="13042821" cy="3266321"/>
          </a:xfrm>
          <a:prstGeom prst="rect">
            <a:avLst/>
          </a:prstGeom>
          <a:noFill/>
          <a:ln/>
        </p:spPr>
        <p:txBody>
          <a:bodyPr wrap="square" lIns="0" tIns="0" rIns="0" bIns="0" rtlCol="0" anchor="t"/>
          <a:lstStyle/>
          <a:p>
            <a:pPr marL="342900" indent="-342900" algn="l">
              <a:lnSpc>
                <a:spcPct val="150000"/>
              </a:lnSpc>
              <a:buSzPct val="100000"/>
              <a:buFont typeface="+mj-lt"/>
              <a:buAutoNum type="arabicPeriod"/>
            </a:pPr>
            <a:r>
              <a:rPr lang="en-US" sz="2000" dirty="0">
                <a:solidFill>
                  <a:srgbClr val="15213F"/>
                </a:solidFill>
                <a:latin typeface="Roboto" pitchFamily="34" charset="0"/>
                <a:ea typeface="Roboto" pitchFamily="34" charset="-122"/>
                <a:cs typeface="Roboto" pitchFamily="34" charset="-120"/>
              </a:rPr>
              <a:t>Problem Statement</a:t>
            </a:r>
            <a:endParaRPr lang="en-US" sz="2000" dirty="0"/>
          </a:p>
          <a:p>
            <a:pPr marL="342900" indent="-342900" algn="l">
              <a:lnSpc>
                <a:spcPct val="150000"/>
              </a:lnSpc>
              <a:buSzPct val="100000"/>
              <a:buFont typeface="+mj-lt"/>
              <a:buAutoNum type="arabicPeriod" startAt="2"/>
            </a:pPr>
            <a:r>
              <a:rPr lang="en-US" sz="2000" dirty="0">
                <a:solidFill>
                  <a:srgbClr val="15213F"/>
                </a:solidFill>
                <a:latin typeface="Roboto" pitchFamily="34" charset="0"/>
                <a:ea typeface="Roboto" pitchFamily="34" charset="-122"/>
                <a:cs typeface="Roboto" pitchFamily="34" charset="-120"/>
              </a:rPr>
              <a:t>Research and Literature</a:t>
            </a:r>
            <a:endParaRPr lang="en-US" sz="2000" dirty="0"/>
          </a:p>
          <a:p>
            <a:pPr marL="342900" indent="-342900" algn="l">
              <a:lnSpc>
                <a:spcPct val="150000"/>
              </a:lnSpc>
              <a:buSzPct val="100000"/>
              <a:buFont typeface="+mj-lt"/>
              <a:buAutoNum type="arabicPeriod" startAt="3"/>
            </a:pPr>
            <a:r>
              <a:rPr lang="en-US" sz="2000" dirty="0">
                <a:solidFill>
                  <a:srgbClr val="15213F"/>
                </a:solidFill>
                <a:latin typeface="Roboto" pitchFamily="34" charset="0"/>
                <a:ea typeface="Roboto" pitchFamily="34" charset="-122"/>
                <a:cs typeface="Roboto" pitchFamily="34" charset="-120"/>
              </a:rPr>
              <a:t>Drawbacks and Limitations</a:t>
            </a:r>
            <a:endParaRPr lang="en-US" sz="2000" dirty="0"/>
          </a:p>
          <a:p>
            <a:pPr marL="342900" indent="-342900" algn="l">
              <a:lnSpc>
                <a:spcPct val="150000"/>
              </a:lnSpc>
              <a:buSzPct val="100000"/>
              <a:buFont typeface="+mj-lt"/>
              <a:buAutoNum type="arabicPeriod" startAt="4"/>
            </a:pPr>
            <a:r>
              <a:rPr lang="en-US" sz="2000" dirty="0">
                <a:solidFill>
                  <a:srgbClr val="15213F"/>
                </a:solidFill>
                <a:latin typeface="Roboto" pitchFamily="34" charset="0"/>
                <a:ea typeface="Roboto" pitchFamily="34" charset="-122"/>
                <a:cs typeface="Roboto" pitchFamily="34" charset="-120"/>
              </a:rPr>
              <a:t>Proposed Solution</a:t>
            </a:r>
            <a:endParaRPr lang="en-US" sz="2000" dirty="0"/>
          </a:p>
          <a:p>
            <a:pPr marL="342900" indent="-342900" algn="l">
              <a:lnSpc>
                <a:spcPct val="150000"/>
              </a:lnSpc>
              <a:buSzPct val="100000"/>
              <a:buFont typeface="+mj-lt"/>
              <a:buAutoNum type="arabicPeriod" startAt="5"/>
            </a:pPr>
            <a:r>
              <a:rPr lang="en-US" sz="2000" dirty="0">
                <a:solidFill>
                  <a:srgbClr val="15213F"/>
                </a:solidFill>
                <a:latin typeface="Roboto" pitchFamily="34" charset="0"/>
                <a:ea typeface="Roboto" pitchFamily="34" charset="-122"/>
                <a:cs typeface="Roboto" pitchFamily="34" charset="-120"/>
              </a:rPr>
              <a:t>Tech Stack</a:t>
            </a:r>
            <a:endParaRPr lang="en-US" sz="2000" dirty="0"/>
          </a:p>
          <a:p>
            <a:pPr marL="342900" indent="-342900" algn="l">
              <a:lnSpc>
                <a:spcPct val="150000"/>
              </a:lnSpc>
              <a:buSzPct val="100000"/>
              <a:buFont typeface="+mj-lt"/>
              <a:buAutoNum type="arabicPeriod" startAt="6"/>
            </a:pPr>
            <a:r>
              <a:rPr lang="en-US" sz="2000" dirty="0">
                <a:solidFill>
                  <a:srgbClr val="15213F"/>
                </a:solidFill>
                <a:latin typeface="Roboto" pitchFamily="34" charset="0"/>
                <a:ea typeface="Roboto" pitchFamily="34" charset="-122"/>
                <a:cs typeface="Roboto" pitchFamily="34" charset="-120"/>
              </a:rPr>
              <a:t>Comparison</a:t>
            </a:r>
            <a:endParaRPr lang="en-US" sz="2000" dirty="0"/>
          </a:p>
          <a:p>
            <a:pPr marL="342900" indent="-342900" algn="l">
              <a:lnSpc>
                <a:spcPct val="150000"/>
              </a:lnSpc>
              <a:buSzPct val="100000"/>
              <a:buFont typeface="+mj-lt"/>
              <a:buAutoNum type="arabicPeriod" startAt="7"/>
            </a:pPr>
            <a:r>
              <a:rPr lang="en-US" sz="2000" dirty="0">
                <a:solidFill>
                  <a:srgbClr val="15213F"/>
                </a:solidFill>
                <a:latin typeface="Roboto" pitchFamily="34" charset="0"/>
                <a:ea typeface="Roboto" pitchFamily="34" charset="-122"/>
                <a:cs typeface="Roboto" pitchFamily="34" charset="-120"/>
              </a:rPr>
              <a:t>Expected Outcomes</a:t>
            </a:r>
            <a:endParaRPr lang="en-US" sz="2000" dirty="0"/>
          </a:p>
          <a:p>
            <a:pPr marL="342900" indent="-342900" algn="l">
              <a:lnSpc>
                <a:spcPct val="150000"/>
              </a:lnSpc>
              <a:buSzPct val="100000"/>
              <a:buFont typeface="+mj-lt"/>
              <a:buAutoNum type="arabicPeriod" startAt="8"/>
            </a:pPr>
            <a:r>
              <a:rPr lang="en-US" sz="2000" dirty="0">
                <a:solidFill>
                  <a:srgbClr val="15213F"/>
                </a:solidFill>
                <a:latin typeface="Roboto" pitchFamily="34" charset="0"/>
                <a:ea typeface="Roboto" pitchFamily="34" charset="-122"/>
                <a:cs typeface="Roboto" pitchFamily="34" charset="-120"/>
              </a:rPr>
              <a:t>Future Addons</a:t>
            </a:r>
            <a:endParaRPr lang="en-US" sz="2000" dirty="0"/>
          </a:p>
          <a:p>
            <a:pPr marL="342900" indent="-342900" algn="l">
              <a:lnSpc>
                <a:spcPct val="150000"/>
              </a:lnSpc>
              <a:buSzPct val="100000"/>
              <a:buFont typeface="+mj-lt"/>
              <a:buAutoNum type="arabicPeriod" startAt="9"/>
            </a:pPr>
            <a:r>
              <a:rPr lang="en-US" sz="2000" dirty="0">
                <a:solidFill>
                  <a:srgbClr val="15213F"/>
                </a:solidFill>
                <a:latin typeface="Roboto" pitchFamily="34" charset="0"/>
                <a:ea typeface="Roboto" pitchFamily="34" charset="-122"/>
                <a:cs typeface="Roboto" pitchFamily="34" charset="-120"/>
              </a:rPr>
              <a:t>Conclusion</a:t>
            </a:r>
            <a:endParaRPr lang="en-US" sz="2000" dirty="0"/>
          </a:p>
        </p:txBody>
      </p:sp>
      <p:sp>
        <p:nvSpPr>
          <p:cNvPr id="4" name="Rectangle 3">
            <a:extLst>
              <a:ext uri="{FF2B5EF4-FFF2-40B4-BE49-F238E27FC236}">
                <a16:creationId xmlns:a16="http://schemas.microsoft.com/office/drawing/2014/main" id="{58E93152-8976-A579-9635-405E59E6048A}"/>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427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Problem Statement</a:t>
            </a:r>
            <a:endParaRPr lang="en-US" sz="4450" dirty="0"/>
          </a:p>
        </p:txBody>
      </p:sp>
      <p:sp>
        <p:nvSpPr>
          <p:cNvPr id="3" name="Text 1"/>
          <p:cNvSpPr/>
          <p:nvPr/>
        </p:nvSpPr>
        <p:spPr>
          <a:xfrm>
            <a:off x="793790" y="279165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146703"/>
            <a:ext cx="6407944" cy="30480"/>
          </a:xfrm>
          <a:prstGeom prst="rect">
            <a:avLst/>
          </a:prstGeom>
        </p:spPr>
      </p:pic>
      <p:sp>
        <p:nvSpPr>
          <p:cNvPr id="5" name="Text 2"/>
          <p:cNvSpPr/>
          <p:nvPr/>
        </p:nvSpPr>
        <p:spPr>
          <a:xfrm>
            <a:off x="793790" y="3321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Lost Versions</a:t>
            </a:r>
            <a:endParaRPr lang="en-US" sz="2200" dirty="0"/>
          </a:p>
        </p:txBody>
      </p:sp>
      <p:sp>
        <p:nvSpPr>
          <p:cNvPr id="6" name="Text 3"/>
          <p:cNvSpPr/>
          <p:nvPr/>
        </p:nvSpPr>
        <p:spPr>
          <a:xfrm>
            <a:off x="793790" y="3811429"/>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Students often lose track of project versions</a:t>
            </a:r>
            <a:endParaRPr lang="en-US" sz="1750" dirty="0"/>
          </a:p>
        </p:txBody>
      </p:sp>
      <p:sp>
        <p:nvSpPr>
          <p:cNvPr id="7" name="Text 4"/>
          <p:cNvSpPr/>
          <p:nvPr/>
        </p:nvSpPr>
        <p:spPr>
          <a:xfrm>
            <a:off x="7428548" y="279165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3146703"/>
            <a:ext cx="6408063" cy="30480"/>
          </a:xfrm>
          <a:prstGeom prst="rect">
            <a:avLst/>
          </a:prstGeom>
        </p:spPr>
      </p:pic>
      <p:sp>
        <p:nvSpPr>
          <p:cNvPr id="9" name="Text 5"/>
          <p:cNvSpPr/>
          <p:nvPr/>
        </p:nvSpPr>
        <p:spPr>
          <a:xfrm>
            <a:off x="7428548" y="3321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Too Complex</a:t>
            </a:r>
            <a:endParaRPr lang="en-US" sz="2200" dirty="0"/>
          </a:p>
        </p:txBody>
      </p:sp>
      <p:sp>
        <p:nvSpPr>
          <p:cNvPr id="10" name="Text 6"/>
          <p:cNvSpPr/>
          <p:nvPr/>
        </p:nvSpPr>
        <p:spPr>
          <a:xfrm>
            <a:off x="7428548" y="3811429"/>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GitHub is too complex for non-CS users</a:t>
            </a:r>
            <a:endParaRPr lang="en-US" sz="1750" dirty="0"/>
          </a:p>
        </p:txBody>
      </p:sp>
      <p:sp>
        <p:nvSpPr>
          <p:cNvPr id="11" name="Text 7"/>
          <p:cNvSpPr/>
          <p:nvPr/>
        </p:nvSpPr>
        <p:spPr>
          <a:xfrm>
            <a:off x="793790" y="457116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4903589"/>
            <a:ext cx="6407944" cy="30480"/>
          </a:xfrm>
          <a:prstGeom prst="rect">
            <a:avLst/>
          </a:prstGeom>
        </p:spPr>
      </p:pic>
      <p:sp>
        <p:nvSpPr>
          <p:cNvPr id="13" name="Text 8"/>
          <p:cNvSpPr/>
          <p:nvPr/>
        </p:nvSpPr>
        <p:spPr>
          <a:xfrm>
            <a:off x="793790" y="51005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Limited Features</a:t>
            </a:r>
            <a:endParaRPr lang="en-US" sz="2200" dirty="0"/>
          </a:p>
        </p:txBody>
      </p:sp>
      <p:sp>
        <p:nvSpPr>
          <p:cNvPr id="14" name="Text 9"/>
          <p:cNvSpPr/>
          <p:nvPr/>
        </p:nvSpPr>
        <p:spPr>
          <a:xfrm>
            <a:off x="793790" y="5590937"/>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Google Drive/Dropbox lack structured rollback</a:t>
            </a:r>
            <a:endParaRPr lang="en-US" sz="1750" dirty="0"/>
          </a:p>
        </p:txBody>
      </p:sp>
      <p:sp>
        <p:nvSpPr>
          <p:cNvPr id="15" name="Text 10"/>
          <p:cNvSpPr/>
          <p:nvPr/>
        </p:nvSpPr>
        <p:spPr>
          <a:xfrm>
            <a:off x="7428548" y="457116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4903589"/>
            <a:ext cx="6408063" cy="30480"/>
          </a:xfrm>
          <a:prstGeom prst="rect">
            <a:avLst/>
          </a:prstGeom>
        </p:spPr>
      </p:pic>
      <p:sp>
        <p:nvSpPr>
          <p:cNvPr id="17" name="Text 11"/>
          <p:cNvSpPr/>
          <p:nvPr/>
        </p:nvSpPr>
        <p:spPr>
          <a:xfrm>
            <a:off x="7428548" y="51005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Missing Solution</a:t>
            </a:r>
            <a:endParaRPr lang="en-US" sz="2200" dirty="0"/>
          </a:p>
        </p:txBody>
      </p:sp>
      <p:sp>
        <p:nvSpPr>
          <p:cNvPr id="18" name="Text 12"/>
          <p:cNvSpPr/>
          <p:nvPr/>
        </p:nvSpPr>
        <p:spPr>
          <a:xfrm>
            <a:off x="7428548" y="5590937"/>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No platform exists that is made for academic project versioning with rollback and timeline</a:t>
            </a:r>
            <a:endParaRPr lang="en-US" sz="1750" dirty="0"/>
          </a:p>
        </p:txBody>
      </p:sp>
      <p:sp>
        <p:nvSpPr>
          <p:cNvPr id="19" name="Rectangle 18">
            <a:extLst>
              <a:ext uri="{FF2B5EF4-FFF2-40B4-BE49-F238E27FC236}">
                <a16:creationId xmlns:a16="http://schemas.microsoft.com/office/drawing/2014/main" id="{BF76AFF0-28DE-5FFE-AB5D-9CBBA6715BBE}"/>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0918" y="1108591"/>
            <a:ext cx="8508921" cy="608052"/>
          </a:xfrm>
          <a:prstGeom prst="rect">
            <a:avLst/>
          </a:prstGeom>
          <a:noFill/>
          <a:ln/>
        </p:spPr>
        <p:txBody>
          <a:bodyPr wrap="none" lIns="0" tIns="0" rIns="0" bIns="0" rtlCol="0" anchor="t"/>
          <a:lstStyle/>
          <a:p>
            <a:pPr marL="0" indent="0" algn="l">
              <a:lnSpc>
                <a:spcPts val="4750"/>
              </a:lnSpc>
              <a:buNone/>
            </a:pPr>
            <a:r>
              <a:rPr lang="en-US" sz="3800" dirty="0">
                <a:solidFill>
                  <a:srgbClr val="3257B8"/>
                </a:solidFill>
                <a:latin typeface="Roboto Slab" pitchFamily="34" charset="0"/>
                <a:ea typeface="Roboto Slab" pitchFamily="34" charset="-122"/>
                <a:cs typeface="Roboto Slab" pitchFamily="34" charset="-120"/>
              </a:rPr>
              <a:t>Market Research &amp; Literature Review</a:t>
            </a:r>
            <a:endParaRPr lang="en-US" sz="3800" dirty="0"/>
          </a:p>
        </p:txBody>
      </p:sp>
      <p:sp>
        <p:nvSpPr>
          <p:cNvPr id="3" name="Text 1"/>
          <p:cNvSpPr/>
          <p:nvPr/>
        </p:nvSpPr>
        <p:spPr>
          <a:xfrm>
            <a:off x="680918" y="2133719"/>
            <a:ext cx="2432209" cy="303967"/>
          </a:xfrm>
          <a:prstGeom prst="rect">
            <a:avLst/>
          </a:prstGeom>
          <a:noFill/>
          <a:ln/>
        </p:spPr>
        <p:txBody>
          <a:bodyPr wrap="none" lIns="0" tIns="0" rIns="0" bIns="0" rtlCol="0" anchor="t"/>
          <a:lstStyle/>
          <a:p>
            <a:pPr marL="0" indent="0" algn="l">
              <a:lnSpc>
                <a:spcPts val="2350"/>
              </a:lnSpc>
              <a:buNone/>
            </a:pPr>
            <a:r>
              <a:rPr lang="en-US" sz="1900" dirty="0">
                <a:solidFill>
                  <a:srgbClr val="3257B8"/>
                </a:solidFill>
                <a:latin typeface="Roboto Slab" pitchFamily="34" charset="0"/>
                <a:ea typeface="Roboto Slab" pitchFamily="34" charset="-122"/>
                <a:cs typeface="Roboto Slab" pitchFamily="34" charset="-120"/>
              </a:rPr>
              <a:t>Platforms Reviewed</a:t>
            </a:r>
            <a:endParaRPr lang="en-US" sz="1900" dirty="0"/>
          </a:p>
        </p:txBody>
      </p:sp>
      <p:sp>
        <p:nvSpPr>
          <p:cNvPr id="4" name="Text 2"/>
          <p:cNvSpPr/>
          <p:nvPr/>
        </p:nvSpPr>
        <p:spPr>
          <a:xfrm>
            <a:off x="680918" y="2604492"/>
            <a:ext cx="4335423" cy="3759515"/>
          </a:xfrm>
          <a:prstGeom prst="rect">
            <a:avLst/>
          </a:prstGeom>
          <a:noFill/>
          <a:ln/>
        </p:spPr>
        <p:txBody>
          <a:bodyPr wrap="square" lIns="0" tIns="0" rIns="0" bIns="0" rtlCol="0" anchor="t"/>
          <a:lstStyle/>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GitHub</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GitLab</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Google Drive</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Dropbox</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Notion</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Word</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Overleaf</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ProjectBuddy</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TimeTravel</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Docu-Pile</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Shapehub</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Freedcamp</a:t>
            </a:r>
            <a:endParaRPr lang="en-US" dirty="0"/>
          </a:p>
          <a:p>
            <a:pPr marL="342900" indent="-342900" algn="l">
              <a:lnSpc>
                <a:spcPts val="2250"/>
              </a:lnSpc>
              <a:buSzPct val="100000"/>
              <a:buChar char="•"/>
            </a:pPr>
            <a:r>
              <a:rPr lang="en-US" dirty="0">
                <a:solidFill>
                  <a:srgbClr val="15213F"/>
                </a:solidFill>
                <a:latin typeface="Roboto" pitchFamily="34" charset="0"/>
                <a:ea typeface="Roboto" pitchFamily="34" charset="-122"/>
                <a:cs typeface="Roboto" pitchFamily="34" charset="-120"/>
              </a:rPr>
              <a:t>Google Docs</a:t>
            </a:r>
            <a:endParaRPr lang="en-US" dirty="0"/>
          </a:p>
        </p:txBody>
      </p:sp>
      <p:sp>
        <p:nvSpPr>
          <p:cNvPr id="5" name="Text 3"/>
          <p:cNvSpPr/>
          <p:nvPr/>
        </p:nvSpPr>
        <p:spPr>
          <a:xfrm>
            <a:off x="5498544" y="2133719"/>
            <a:ext cx="2432209" cy="303967"/>
          </a:xfrm>
          <a:prstGeom prst="rect">
            <a:avLst/>
          </a:prstGeom>
          <a:noFill/>
          <a:ln/>
        </p:spPr>
        <p:txBody>
          <a:bodyPr wrap="none" lIns="0" tIns="0" rIns="0" bIns="0" rtlCol="0" anchor="t"/>
          <a:lstStyle/>
          <a:p>
            <a:pPr marL="0" indent="0" algn="l">
              <a:lnSpc>
                <a:spcPts val="2350"/>
              </a:lnSpc>
              <a:buNone/>
            </a:pPr>
            <a:r>
              <a:rPr lang="en-US" sz="1900" dirty="0">
                <a:solidFill>
                  <a:srgbClr val="3257B8"/>
                </a:solidFill>
                <a:latin typeface="Roboto Slab" pitchFamily="34" charset="0"/>
                <a:ea typeface="Roboto Slab" pitchFamily="34" charset="-122"/>
                <a:cs typeface="Roboto Slab" pitchFamily="34" charset="-120"/>
              </a:rPr>
              <a:t>Key Finding</a:t>
            </a:r>
            <a:endParaRPr lang="en-US" sz="1900" dirty="0"/>
          </a:p>
        </p:txBody>
      </p:sp>
      <p:sp>
        <p:nvSpPr>
          <p:cNvPr id="6" name="Text 4"/>
          <p:cNvSpPr/>
          <p:nvPr/>
        </p:nvSpPr>
        <p:spPr>
          <a:xfrm>
            <a:off x="5498544" y="2604492"/>
            <a:ext cx="8458438" cy="3759515"/>
          </a:xfrm>
          <a:prstGeom prst="rect">
            <a:avLst/>
          </a:prstGeom>
          <a:noFill/>
          <a:ln/>
        </p:spPr>
        <p:txBody>
          <a:bodyPr wrap="square" lIns="0" tIns="0" rIns="0" bIns="0" rtlCol="0" anchor="t"/>
          <a:lstStyle/>
          <a:p>
            <a:pPr marL="342900" indent="-342900" algn="l">
              <a:lnSpc>
                <a:spcPts val="2250"/>
              </a:lnSpc>
              <a:buSzPct val="100000"/>
              <a:buChar char="•"/>
            </a:pPr>
            <a:r>
              <a:rPr lang="en-US" dirty="0">
                <a:solidFill>
                  <a:srgbClr val="15213F"/>
                </a:solidFill>
                <a:ea typeface="Roboto" pitchFamily="34" charset="-122"/>
                <a:cs typeface="Roboto" pitchFamily="34" charset="-120"/>
              </a:rPr>
              <a:t>GitHub &amp; GitLab: Offer robust code versioning and collaboration tools, but their steep learning curve and command-line interface make them too complex for many non-CS academic users who primarily work with documents and diverse file types.</a:t>
            </a:r>
          </a:p>
          <a:p>
            <a:pPr marL="342900" indent="-342900" algn="l">
              <a:lnSpc>
                <a:spcPts val="2250"/>
              </a:lnSpc>
              <a:buSzPct val="100000"/>
              <a:buChar char="•"/>
            </a:pPr>
            <a:endParaRPr lang="en-US" dirty="0"/>
          </a:p>
          <a:p>
            <a:pPr marL="342900" indent="-342900" algn="l">
              <a:lnSpc>
                <a:spcPts val="2250"/>
              </a:lnSpc>
              <a:buSzPct val="100000"/>
              <a:buChar char="•"/>
            </a:pPr>
            <a:r>
              <a:rPr lang="en-US" dirty="0">
                <a:solidFill>
                  <a:srgbClr val="15213F"/>
                </a:solidFill>
                <a:ea typeface="Roboto" pitchFamily="34" charset="-122"/>
                <a:cs typeface="Roboto" pitchFamily="34" charset="-120"/>
              </a:rPr>
              <a:t>Google Drive &amp; Dropbox: Provide easy file sharing and basic version history, allowing users to revert to previous file states. However, they lack structured rollback capabilities for entire projects and a clear, detailed timeline view of changes.</a:t>
            </a:r>
          </a:p>
          <a:p>
            <a:pPr marL="342900" indent="-342900" algn="l">
              <a:lnSpc>
                <a:spcPts val="2250"/>
              </a:lnSpc>
              <a:buSzPct val="100000"/>
              <a:buChar char="•"/>
            </a:pPr>
            <a:endParaRPr lang="en-US" dirty="0"/>
          </a:p>
          <a:p>
            <a:pPr marL="342900" indent="-342900" algn="l">
              <a:lnSpc>
                <a:spcPts val="2250"/>
              </a:lnSpc>
              <a:buSzPct val="100000"/>
              <a:buChar char="•"/>
            </a:pPr>
            <a:r>
              <a:rPr lang="en-US" dirty="0">
                <a:solidFill>
                  <a:srgbClr val="15213F"/>
                </a:solidFill>
                <a:ea typeface="Roboto" pitchFamily="34" charset="-122"/>
                <a:cs typeface="Roboto" pitchFamily="34" charset="-120"/>
              </a:rPr>
              <a:t>Notion &amp; Overleaf: Excel in organization, knowledge management, and collaborative document creation (especially for LaTeX in Overleaf's case). Yet, they are not primarily designed for comprehensive academic project versioning with the specific rollback and visual timeline features needed for all project components.</a:t>
            </a:r>
          </a:p>
          <a:p>
            <a:pPr marL="342900" indent="-342900" algn="l">
              <a:lnSpc>
                <a:spcPts val="2250"/>
              </a:lnSpc>
              <a:buSzPct val="100000"/>
              <a:buChar char="•"/>
            </a:pPr>
            <a:endParaRPr lang="en-US" dirty="0"/>
          </a:p>
          <a:p>
            <a:pPr marL="342900" indent="-342900" algn="l">
              <a:lnSpc>
                <a:spcPts val="2250"/>
              </a:lnSpc>
              <a:buSzPct val="100000"/>
              <a:buChar char="•"/>
            </a:pPr>
            <a:r>
              <a:rPr lang="en-US" dirty="0">
                <a:solidFill>
                  <a:srgbClr val="15213F"/>
                </a:solidFill>
                <a:ea typeface="Roboto" pitchFamily="34" charset="-122"/>
                <a:cs typeface="Roboto" pitchFamily="34" charset="-120"/>
              </a:rPr>
              <a:t>None of the reviewed platforms currently offer a truly user-friendly, academic-focused solution that combines intuitive visual timelines and structured rollback mechanisms, making them suitable for diverse project types and non-technical users</a:t>
            </a:r>
            <a:r>
              <a:rPr lang="en-US" dirty="0">
                <a:solidFill>
                  <a:srgbClr val="15213F"/>
                </a:solidFill>
                <a:latin typeface="Roboto" pitchFamily="34" charset="0"/>
                <a:ea typeface="Roboto" pitchFamily="34" charset="-122"/>
                <a:cs typeface="Roboto" pitchFamily="34" charset="-120"/>
              </a:rPr>
              <a:t>.</a:t>
            </a:r>
            <a:endParaRPr lang="en-US" dirty="0"/>
          </a:p>
        </p:txBody>
      </p:sp>
      <p:sp>
        <p:nvSpPr>
          <p:cNvPr id="7" name="Rectangle 6">
            <a:extLst>
              <a:ext uri="{FF2B5EF4-FFF2-40B4-BE49-F238E27FC236}">
                <a16:creationId xmlns:a16="http://schemas.microsoft.com/office/drawing/2014/main" id="{9A8DAC12-9200-586C-D978-513F75ED7942}"/>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99267"/>
            <a:ext cx="6703814"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Our Research Conclusion</a:t>
            </a:r>
            <a:endParaRPr lang="en-US" sz="4450" dirty="0"/>
          </a:p>
        </p:txBody>
      </p:sp>
      <p:sp>
        <p:nvSpPr>
          <p:cNvPr id="3" name="Text 1"/>
          <p:cNvSpPr/>
          <p:nvPr/>
        </p:nvSpPr>
        <p:spPr>
          <a:xfrm>
            <a:off x="793790" y="1961674"/>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15213F"/>
                </a:solidFill>
                <a:latin typeface="Roboto" pitchFamily="34" charset="0"/>
                <a:ea typeface="Roboto" pitchFamily="34" charset="-122"/>
                <a:cs typeface="Roboto" pitchFamily="34" charset="-120"/>
              </a:rPr>
              <a:t>After deep feature analysis, </a:t>
            </a:r>
            <a:r>
              <a:rPr lang="en-US" sz="2200" b="1" dirty="0">
                <a:solidFill>
                  <a:srgbClr val="3257B8"/>
                </a:solidFill>
                <a:latin typeface="Roboto" pitchFamily="34" charset="0"/>
                <a:ea typeface="Roboto" pitchFamily="34" charset="-122"/>
                <a:cs typeface="Roboto" pitchFamily="34" charset="-120"/>
              </a:rPr>
              <a:t>no single platform matches our system exactly</a:t>
            </a:r>
            <a:endParaRPr lang="en-US" sz="2200" dirty="0"/>
          </a:p>
        </p:txBody>
      </p:sp>
      <p:sp>
        <p:nvSpPr>
          <p:cNvPr id="4" name="Shape 2"/>
          <p:cNvSpPr/>
          <p:nvPr/>
        </p:nvSpPr>
        <p:spPr>
          <a:xfrm>
            <a:off x="793790" y="2670334"/>
            <a:ext cx="4196358" cy="1730812"/>
          </a:xfrm>
          <a:prstGeom prst="roundRect">
            <a:avLst>
              <a:gd name="adj" fmla="val 8453"/>
            </a:avLst>
          </a:prstGeom>
          <a:solidFill>
            <a:srgbClr val="FBFCFE"/>
          </a:solidFill>
          <a:ln w="30480">
            <a:solidFill>
              <a:srgbClr val="CFD2D8"/>
            </a:solidFill>
            <a:prstDash val="solid"/>
          </a:ln>
        </p:spPr>
      </p:sp>
      <p:pic>
        <p:nvPicPr>
          <p:cNvPr id="5" name="Image 0" descr="preencoded.png"/>
          <p:cNvPicPr>
            <a:picLocks noChangeAspect="1"/>
          </p:cNvPicPr>
          <p:nvPr/>
        </p:nvPicPr>
        <p:blipFill>
          <a:blip r:embed="rId3"/>
          <a:stretch>
            <a:fillRect/>
          </a:stretch>
        </p:blipFill>
        <p:spPr>
          <a:xfrm>
            <a:off x="763310" y="2670334"/>
            <a:ext cx="121920" cy="1730812"/>
          </a:xfrm>
          <a:prstGeom prst="rect">
            <a:avLst/>
          </a:prstGeom>
        </p:spPr>
      </p:pic>
      <p:sp>
        <p:nvSpPr>
          <p:cNvPr id="6" name="Text 3"/>
          <p:cNvSpPr/>
          <p:nvPr/>
        </p:nvSpPr>
        <p:spPr>
          <a:xfrm>
            <a:off x="1142524" y="29276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GitHub</a:t>
            </a:r>
            <a:endParaRPr lang="en-US" sz="2200" dirty="0"/>
          </a:p>
        </p:txBody>
      </p:sp>
      <p:sp>
        <p:nvSpPr>
          <p:cNvPr id="7" name="Text 4"/>
          <p:cNvSpPr/>
          <p:nvPr/>
        </p:nvSpPr>
        <p:spPr>
          <a:xfrm>
            <a:off x="1142524" y="3418046"/>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Developer-focused, no visual rollback, too complex</a:t>
            </a:r>
            <a:endParaRPr lang="en-US" sz="1750" dirty="0"/>
          </a:p>
        </p:txBody>
      </p:sp>
      <p:sp>
        <p:nvSpPr>
          <p:cNvPr id="8" name="Shape 5"/>
          <p:cNvSpPr/>
          <p:nvPr/>
        </p:nvSpPr>
        <p:spPr>
          <a:xfrm>
            <a:off x="5216962" y="2670334"/>
            <a:ext cx="4196358" cy="1730812"/>
          </a:xfrm>
          <a:prstGeom prst="roundRect">
            <a:avLst>
              <a:gd name="adj" fmla="val 8453"/>
            </a:avLst>
          </a:prstGeom>
          <a:solidFill>
            <a:srgbClr val="FBFCFE"/>
          </a:solidFill>
          <a:ln w="30480">
            <a:solidFill>
              <a:srgbClr val="CFD2D8"/>
            </a:solidFill>
            <a:prstDash val="solid"/>
          </a:ln>
        </p:spPr>
      </p:sp>
      <p:pic>
        <p:nvPicPr>
          <p:cNvPr id="9" name="Image 1" descr="preencoded.png"/>
          <p:cNvPicPr>
            <a:picLocks noChangeAspect="1"/>
          </p:cNvPicPr>
          <p:nvPr/>
        </p:nvPicPr>
        <p:blipFill>
          <a:blip r:embed="rId3"/>
          <a:stretch>
            <a:fillRect/>
          </a:stretch>
        </p:blipFill>
        <p:spPr>
          <a:xfrm>
            <a:off x="5186482" y="2670334"/>
            <a:ext cx="121920" cy="1730812"/>
          </a:xfrm>
          <a:prstGeom prst="rect">
            <a:avLst/>
          </a:prstGeom>
        </p:spPr>
      </p:pic>
      <p:sp>
        <p:nvSpPr>
          <p:cNvPr id="10" name="Text 6"/>
          <p:cNvSpPr/>
          <p:nvPr/>
        </p:nvSpPr>
        <p:spPr>
          <a:xfrm>
            <a:off x="5565696" y="29276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Drive</a:t>
            </a:r>
            <a:endParaRPr lang="en-US" sz="2200" dirty="0"/>
          </a:p>
        </p:txBody>
      </p:sp>
      <p:sp>
        <p:nvSpPr>
          <p:cNvPr id="11" name="Text 7"/>
          <p:cNvSpPr/>
          <p:nvPr/>
        </p:nvSpPr>
        <p:spPr>
          <a:xfrm>
            <a:off x="5565696" y="3418046"/>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No full project versioning, only per-file</a:t>
            </a:r>
            <a:endParaRPr lang="en-US" sz="1750" dirty="0"/>
          </a:p>
        </p:txBody>
      </p:sp>
      <p:sp>
        <p:nvSpPr>
          <p:cNvPr id="12" name="Shape 8"/>
          <p:cNvSpPr/>
          <p:nvPr/>
        </p:nvSpPr>
        <p:spPr>
          <a:xfrm>
            <a:off x="9640133" y="2670334"/>
            <a:ext cx="4196358" cy="1730812"/>
          </a:xfrm>
          <a:prstGeom prst="roundRect">
            <a:avLst>
              <a:gd name="adj" fmla="val 8453"/>
            </a:avLst>
          </a:prstGeom>
          <a:solidFill>
            <a:srgbClr val="FBFCFE"/>
          </a:solidFill>
          <a:ln w="30480">
            <a:solidFill>
              <a:srgbClr val="CFD2D8"/>
            </a:solidFill>
            <a:prstDash val="solid"/>
          </a:ln>
        </p:spPr>
      </p:sp>
      <p:pic>
        <p:nvPicPr>
          <p:cNvPr id="13" name="Image 2" descr="preencoded.png"/>
          <p:cNvPicPr>
            <a:picLocks noChangeAspect="1"/>
          </p:cNvPicPr>
          <p:nvPr/>
        </p:nvPicPr>
        <p:blipFill>
          <a:blip r:embed="rId3"/>
          <a:stretch>
            <a:fillRect/>
          </a:stretch>
        </p:blipFill>
        <p:spPr>
          <a:xfrm>
            <a:off x="9609653" y="2670334"/>
            <a:ext cx="121920" cy="1730812"/>
          </a:xfrm>
          <a:prstGeom prst="rect">
            <a:avLst/>
          </a:prstGeom>
        </p:spPr>
      </p:pic>
      <p:sp>
        <p:nvSpPr>
          <p:cNvPr id="14" name="Text 9"/>
          <p:cNvSpPr/>
          <p:nvPr/>
        </p:nvSpPr>
        <p:spPr>
          <a:xfrm>
            <a:off x="9988868" y="29276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Notion</a:t>
            </a:r>
            <a:endParaRPr lang="en-US" sz="2200" dirty="0"/>
          </a:p>
        </p:txBody>
      </p:sp>
      <p:sp>
        <p:nvSpPr>
          <p:cNvPr id="15" name="Text 10"/>
          <p:cNvSpPr/>
          <p:nvPr/>
        </p:nvSpPr>
        <p:spPr>
          <a:xfrm>
            <a:off x="9988868" y="3418046"/>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No file rollback or structured project views</a:t>
            </a:r>
            <a:endParaRPr lang="en-US" sz="1750" dirty="0"/>
          </a:p>
        </p:txBody>
      </p:sp>
      <p:sp>
        <p:nvSpPr>
          <p:cNvPr id="16" name="Shape 11"/>
          <p:cNvSpPr/>
          <p:nvPr/>
        </p:nvSpPr>
        <p:spPr>
          <a:xfrm>
            <a:off x="793790" y="4627959"/>
            <a:ext cx="4196358" cy="2093714"/>
          </a:xfrm>
          <a:prstGeom prst="roundRect">
            <a:avLst>
              <a:gd name="adj" fmla="val 6988"/>
            </a:avLst>
          </a:prstGeom>
          <a:solidFill>
            <a:srgbClr val="FBFCFE"/>
          </a:solidFill>
          <a:ln w="30480">
            <a:solidFill>
              <a:srgbClr val="CFD2D8"/>
            </a:solidFill>
            <a:prstDash val="solid"/>
          </a:ln>
        </p:spPr>
      </p:sp>
      <p:pic>
        <p:nvPicPr>
          <p:cNvPr id="17" name="Image 3" descr="preencoded.png"/>
          <p:cNvPicPr>
            <a:picLocks noChangeAspect="1"/>
          </p:cNvPicPr>
          <p:nvPr/>
        </p:nvPicPr>
        <p:blipFill>
          <a:blip r:embed="rId4"/>
          <a:stretch>
            <a:fillRect/>
          </a:stretch>
        </p:blipFill>
        <p:spPr>
          <a:xfrm>
            <a:off x="763310" y="4627959"/>
            <a:ext cx="121920" cy="2093714"/>
          </a:xfrm>
          <a:prstGeom prst="rect">
            <a:avLst/>
          </a:prstGeom>
        </p:spPr>
      </p:pic>
      <p:sp>
        <p:nvSpPr>
          <p:cNvPr id="18" name="Text 12"/>
          <p:cNvSpPr/>
          <p:nvPr/>
        </p:nvSpPr>
        <p:spPr>
          <a:xfrm>
            <a:off x="1142524" y="48852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ProjectBuddy</a:t>
            </a:r>
            <a:endParaRPr lang="en-US" sz="2200" dirty="0"/>
          </a:p>
        </p:txBody>
      </p:sp>
      <p:sp>
        <p:nvSpPr>
          <p:cNvPr id="19" name="Text 13"/>
          <p:cNvSpPr/>
          <p:nvPr/>
        </p:nvSpPr>
        <p:spPr>
          <a:xfrm>
            <a:off x="1142524" y="537567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Project submission tracker, lacks version history and timeline rollback</a:t>
            </a:r>
            <a:endParaRPr lang="en-US" sz="1750" dirty="0"/>
          </a:p>
        </p:txBody>
      </p:sp>
      <p:sp>
        <p:nvSpPr>
          <p:cNvPr id="20" name="Shape 14"/>
          <p:cNvSpPr/>
          <p:nvPr/>
        </p:nvSpPr>
        <p:spPr>
          <a:xfrm>
            <a:off x="5216962" y="4627959"/>
            <a:ext cx="4196358" cy="2093714"/>
          </a:xfrm>
          <a:prstGeom prst="roundRect">
            <a:avLst>
              <a:gd name="adj" fmla="val 6988"/>
            </a:avLst>
          </a:prstGeom>
          <a:solidFill>
            <a:srgbClr val="FBFCFE"/>
          </a:solidFill>
          <a:ln w="30480">
            <a:solidFill>
              <a:srgbClr val="CFD2D8"/>
            </a:solidFill>
            <a:prstDash val="solid"/>
          </a:ln>
        </p:spPr>
      </p:sp>
      <p:pic>
        <p:nvPicPr>
          <p:cNvPr id="21" name="Image 4" descr="preencoded.png"/>
          <p:cNvPicPr>
            <a:picLocks noChangeAspect="1"/>
          </p:cNvPicPr>
          <p:nvPr/>
        </p:nvPicPr>
        <p:blipFill>
          <a:blip r:embed="rId4"/>
          <a:stretch>
            <a:fillRect/>
          </a:stretch>
        </p:blipFill>
        <p:spPr>
          <a:xfrm>
            <a:off x="5186482" y="4627959"/>
            <a:ext cx="121920" cy="2093714"/>
          </a:xfrm>
          <a:prstGeom prst="rect">
            <a:avLst/>
          </a:prstGeom>
        </p:spPr>
      </p:pic>
      <p:sp>
        <p:nvSpPr>
          <p:cNvPr id="22" name="Text 15"/>
          <p:cNvSpPr/>
          <p:nvPr/>
        </p:nvSpPr>
        <p:spPr>
          <a:xfrm>
            <a:off x="5565696" y="48852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Google Docs</a:t>
            </a:r>
            <a:endParaRPr lang="en-US" sz="2200" dirty="0"/>
          </a:p>
        </p:txBody>
      </p:sp>
      <p:sp>
        <p:nvSpPr>
          <p:cNvPr id="23" name="Text 16"/>
          <p:cNvSpPr/>
          <p:nvPr/>
        </p:nvSpPr>
        <p:spPr>
          <a:xfrm>
            <a:off x="5565696" y="537567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Real-time collaboration, but no structured project versioning or rollback capabilities</a:t>
            </a:r>
            <a:endParaRPr lang="en-US" sz="1750" dirty="0"/>
          </a:p>
        </p:txBody>
      </p:sp>
      <p:sp>
        <p:nvSpPr>
          <p:cNvPr id="24" name="Shape 17"/>
          <p:cNvSpPr/>
          <p:nvPr/>
        </p:nvSpPr>
        <p:spPr>
          <a:xfrm>
            <a:off x="9640133" y="4627959"/>
            <a:ext cx="4196358" cy="2093714"/>
          </a:xfrm>
          <a:prstGeom prst="roundRect">
            <a:avLst>
              <a:gd name="adj" fmla="val 6988"/>
            </a:avLst>
          </a:prstGeom>
          <a:solidFill>
            <a:srgbClr val="FBFCFE"/>
          </a:solidFill>
          <a:ln w="30480">
            <a:solidFill>
              <a:srgbClr val="CFD2D8"/>
            </a:solidFill>
            <a:prstDash val="solid"/>
          </a:ln>
        </p:spPr>
      </p:sp>
      <p:pic>
        <p:nvPicPr>
          <p:cNvPr id="25" name="Image 5" descr="preencoded.png"/>
          <p:cNvPicPr>
            <a:picLocks noChangeAspect="1"/>
          </p:cNvPicPr>
          <p:nvPr/>
        </p:nvPicPr>
        <p:blipFill>
          <a:blip r:embed="rId4"/>
          <a:stretch>
            <a:fillRect/>
          </a:stretch>
        </p:blipFill>
        <p:spPr>
          <a:xfrm>
            <a:off x="9609653" y="4627959"/>
            <a:ext cx="121920" cy="2093714"/>
          </a:xfrm>
          <a:prstGeom prst="rect">
            <a:avLst/>
          </a:prstGeom>
        </p:spPr>
      </p:pic>
      <p:sp>
        <p:nvSpPr>
          <p:cNvPr id="26" name="Text 18"/>
          <p:cNvSpPr/>
          <p:nvPr/>
        </p:nvSpPr>
        <p:spPr>
          <a:xfrm>
            <a:off x="9988868" y="48852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Docu-Pile</a:t>
            </a:r>
            <a:endParaRPr lang="en-US" sz="2200" dirty="0"/>
          </a:p>
        </p:txBody>
      </p:sp>
      <p:sp>
        <p:nvSpPr>
          <p:cNvPr id="27" name="Text 19"/>
          <p:cNvSpPr/>
          <p:nvPr/>
        </p:nvSpPr>
        <p:spPr>
          <a:xfrm>
            <a:off x="9988868" y="537567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Document organization tool, but lacks version control and automated rollback features</a:t>
            </a:r>
            <a:endParaRPr lang="en-US" sz="1750" dirty="0"/>
          </a:p>
        </p:txBody>
      </p:sp>
      <p:sp>
        <p:nvSpPr>
          <p:cNvPr id="28" name="Text 20"/>
          <p:cNvSpPr/>
          <p:nvPr/>
        </p:nvSpPr>
        <p:spPr>
          <a:xfrm>
            <a:off x="793790" y="6976824"/>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3257B8"/>
                </a:solidFill>
                <a:latin typeface="Roboto" pitchFamily="34" charset="0"/>
                <a:ea typeface="Roboto" pitchFamily="34" charset="-122"/>
                <a:cs typeface="Roboto" pitchFamily="34" charset="-120"/>
              </a:rPr>
              <a:t>ProjectVault stands unique in addressing academic project workflows</a:t>
            </a:r>
            <a:endParaRPr lang="en-US" sz="2200" dirty="0"/>
          </a:p>
        </p:txBody>
      </p:sp>
      <p:sp>
        <p:nvSpPr>
          <p:cNvPr id="29" name="Rectangle 28">
            <a:extLst>
              <a:ext uri="{FF2B5EF4-FFF2-40B4-BE49-F238E27FC236}">
                <a16:creationId xmlns:a16="http://schemas.microsoft.com/office/drawing/2014/main" id="{386DBEF3-F54D-33E3-C84B-B4B4227F4114}"/>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4858" y="656392"/>
            <a:ext cx="7080409" cy="682943"/>
          </a:xfrm>
          <a:prstGeom prst="rect">
            <a:avLst/>
          </a:prstGeom>
          <a:noFill/>
          <a:ln/>
        </p:spPr>
        <p:txBody>
          <a:bodyPr wrap="none" lIns="0" tIns="0" rIns="0" bIns="0" rtlCol="0" anchor="t"/>
          <a:lstStyle/>
          <a:p>
            <a:pPr marL="0" indent="0" algn="l">
              <a:lnSpc>
                <a:spcPts val="5350"/>
              </a:lnSpc>
              <a:buNone/>
            </a:pPr>
            <a:r>
              <a:rPr lang="en-US" sz="4300" dirty="0">
                <a:solidFill>
                  <a:srgbClr val="3257B8"/>
                </a:solidFill>
                <a:latin typeface="Roboto Slab" pitchFamily="34" charset="0"/>
                <a:ea typeface="Roboto Slab" pitchFamily="34" charset="-122"/>
                <a:cs typeface="Roboto Slab" pitchFamily="34" charset="-120"/>
              </a:rPr>
              <a:t>Our Solution — ProjectVault</a:t>
            </a:r>
            <a:endParaRPr lang="en-US" sz="4300" dirty="0"/>
          </a:p>
        </p:txBody>
      </p:sp>
      <p:sp>
        <p:nvSpPr>
          <p:cNvPr id="3" name="Text 1"/>
          <p:cNvSpPr/>
          <p:nvPr/>
        </p:nvSpPr>
        <p:spPr>
          <a:xfrm>
            <a:off x="764858" y="1423511"/>
            <a:ext cx="3277910" cy="409694"/>
          </a:xfrm>
          <a:prstGeom prst="rect">
            <a:avLst/>
          </a:prstGeom>
          <a:noFill/>
          <a:ln/>
        </p:spPr>
        <p:txBody>
          <a:bodyPr wrap="none" lIns="0" tIns="0" rIns="0" bIns="0" rtlCol="0" anchor="t"/>
          <a:lstStyle/>
          <a:p>
            <a:pPr marL="0" indent="0" algn="l">
              <a:lnSpc>
                <a:spcPts val="3200"/>
              </a:lnSpc>
              <a:buNone/>
            </a:pPr>
            <a:r>
              <a:rPr lang="en-US" sz="2550" dirty="0">
                <a:solidFill>
                  <a:srgbClr val="3257B8"/>
                </a:solidFill>
                <a:latin typeface="Roboto Slab" pitchFamily="34" charset="0"/>
                <a:ea typeface="Roboto Slab" pitchFamily="34" charset="-122"/>
                <a:cs typeface="Roboto Slab" pitchFamily="34" charset="-120"/>
              </a:rPr>
              <a:t>What it does:</a:t>
            </a:r>
            <a:endParaRPr lang="en-US" sz="25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858" y="2148959"/>
            <a:ext cx="436959" cy="436959"/>
          </a:xfrm>
          <a:prstGeom prst="rect">
            <a:avLst/>
          </a:prstGeom>
        </p:spPr>
      </p:pic>
      <p:sp>
        <p:nvSpPr>
          <p:cNvPr id="5" name="Text 2"/>
          <p:cNvSpPr/>
          <p:nvPr/>
        </p:nvSpPr>
        <p:spPr>
          <a:xfrm>
            <a:off x="1464945" y="2223968"/>
            <a:ext cx="3220760" cy="341352"/>
          </a:xfrm>
          <a:prstGeom prst="rect">
            <a:avLst/>
          </a:prstGeom>
          <a:noFill/>
          <a:ln/>
        </p:spPr>
        <p:txBody>
          <a:bodyPr wrap="non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Auto-saves every change</a:t>
            </a:r>
            <a:endParaRPr lang="en-US" sz="2150" dirty="0"/>
          </a:p>
        </p:txBody>
      </p:sp>
      <p:sp>
        <p:nvSpPr>
          <p:cNvPr id="6" name="Text 3"/>
          <p:cNvSpPr/>
          <p:nvPr/>
        </p:nvSpPr>
        <p:spPr>
          <a:xfrm>
            <a:off x="1464945" y="2691527"/>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Automatically captures all modifications in real-time</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Prevents data loss from crashes or accidental closures</a:t>
            </a:r>
            <a:endParaRPr lang="en-US" sz="17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9462" y="2148959"/>
            <a:ext cx="436959" cy="436959"/>
          </a:xfrm>
          <a:prstGeom prst="rect">
            <a:avLst/>
          </a:prstGeom>
        </p:spPr>
      </p:pic>
      <p:sp>
        <p:nvSpPr>
          <p:cNvPr id="8" name="Text 4"/>
          <p:cNvSpPr/>
          <p:nvPr/>
        </p:nvSpPr>
        <p:spPr>
          <a:xfrm>
            <a:off x="5919549" y="2223968"/>
            <a:ext cx="3458051" cy="341352"/>
          </a:xfrm>
          <a:prstGeom prst="rect">
            <a:avLst/>
          </a:prstGeom>
          <a:noFill/>
          <a:ln/>
        </p:spPr>
        <p:txBody>
          <a:bodyPr wrap="non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Visual timeline of versions</a:t>
            </a:r>
            <a:endParaRPr lang="en-US" sz="2150" dirty="0"/>
          </a:p>
        </p:txBody>
      </p:sp>
      <p:sp>
        <p:nvSpPr>
          <p:cNvPr id="9" name="Text 5"/>
          <p:cNvSpPr/>
          <p:nvPr/>
        </p:nvSpPr>
        <p:spPr>
          <a:xfrm>
            <a:off x="5919549" y="2691527"/>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See a clear graphical history of all changes</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Track project evolution and identify key milestones</a:t>
            </a:r>
            <a:endParaRPr lang="en-US" sz="17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4066" y="2148959"/>
            <a:ext cx="436959" cy="436959"/>
          </a:xfrm>
          <a:prstGeom prst="rect">
            <a:avLst/>
          </a:prstGeom>
        </p:spPr>
      </p:pic>
      <p:sp>
        <p:nvSpPr>
          <p:cNvPr id="11" name="Text 6"/>
          <p:cNvSpPr/>
          <p:nvPr/>
        </p:nvSpPr>
        <p:spPr>
          <a:xfrm>
            <a:off x="10374154" y="2223968"/>
            <a:ext cx="3491389" cy="682704"/>
          </a:xfrm>
          <a:prstGeom prst="rect">
            <a:avLst/>
          </a:prstGeom>
          <a:noFill/>
          <a:ln/>
        </p:spPr>
        <p:txBody>
          <a:bodyPr wrap="squar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Allows rollback to any previous state</a:t>
            </a:r>
            <a:endParaRPr lang="en-US" sz="2150" dirty="0"/>
          </a:p>
        </p:txBody>
      </p:sp>
      <p:sp>
        <p:nvSpPr>
          <p:cNvPr id="12" name="Text 7"/>
          <p:cNvSpPr/>
          <p:nvPr/>
        </p:nvSpPr>
        <p:spPr>
          <a:xfrm>
            <a:off x="10374154" y="3032879"/>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Instantly revert to any past version</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Experiment freely without fear of permanent mistakes</a:t>
            </a:r>
            <a:endParaRPr lang="en-US" sz="17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4858" y="4680697"/>
            <a:ext cx="436959" cy="436959"/>
          </a:xfrm>
          <a:prstGeom prst="rect">
            <a:avLst/>
          </a:prstGeom>
        </p:spPr>
      </p:pic>
      <p:sp>
        <p:nvSpPr>
          <p:cNvPr id="14" name="Text 8"/>
          <p:cNvSpPr/>
          <p:nvPr/>
        </p:nvSpPr>
        <p:spPr>
          <a:xfrm>
            <a:off x="1464945" y="4755707"/>
            <a:ext cx="3491389" cy="682704"/>
          </a:xfrm>
          <a:prstGeom prst="rect">
            <a:avLst/>
          </a:prstGeom>
          <a:noFill/>
          <a:ln/>
        </p:spPr>
        <p:txBody>
          <a:bodyPr wrap="squar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Supports any file types: Docs, PDFs, Code</a:t>
            </a:r>
            <a:endParaRPr lang="en-US" sz="2150" dirty="0"/>
          </a:p>
        </p:txBody>
      </p:sp>
      <p:sp>
        <p:nvSpPr>
          <p:cNvPr id="15" name="Text 9"/>
          <p:cNvSpPr/>
          <p:nvPr/>
        </p:nvSpPr>
        <p:spPr>
          <a:xfrm>
            <a:off x="1464945" y="5564617"/>
            <a:ext cx="3491389" cy="1716283"/>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Works with documents, presentations, code files, Pdf, word, GIF, Jpg/Png etc…</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Centralize all project assets in one place</a:t>
            </a:r>
            <a:endParaRPr lang="en-US" sz="170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19462" y="4680697"/>
            <a:ext cx="436959" cy="436959"/>
          </a:xfrm>
          <a:prstGeom prst="rect">
            <a:avLst/>
          </a:prstGeom>
        </p:spPr>
      </p:pic>
      <p:sp>
        <p:nvSpPr>
          <p:cNvPr id="17" name="Text 10"/>
          <p:cNvSpPr/>
          <p:nvPr/>
        </p:nvSpPr>
        <p:spPr>
          <a:xfrm>
            <a:off x="5919549" y="4755707"/>
            <a:ext cx="3491389" cy="682704"/>
          </a:xfrm>
          <a:prstGeom prst="rect">
            <a:avLst/>
          </a:prstGeom>
          <a:noFill/>
          <a:ln/>
        </p:spPr>
        <p:txBody>
          <a:bodyPr wrap="squar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Simple UI built for students</a:t>
            </a:r>
            <a:endParaRPr lang="en-US" sz="2150" dirty="0"/>
          </a:p>
        </p:txBody>
      </p:sp>
      <p:sp>
        <p:nvSpPr>
          <p:cNvPr id="18" name="Text 11"/>
          <p:cNvSpPr/>
          <p:nvPr/>
        </p:nvSpPr>
        <p:spPr>
          <a:xfrm>
            <a:off x="5919549" y="5564617"/>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Intuitive interface designed for non-technical users</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Focus on studies, not learning complex software</a:t>
            </a:r>
            <a:endParaRPr lang="en-US" sz="1700" dirty="0"/>
          </a:p>
        </p:txBody>
      </p:sp>
      <p:sp>
        <p:nvSpPr>
          <p:cNvPr id="19" name="Rectangle 18">
            <a:extLst>
              <a:ext uri="{FF2B5EF4-FFF2-40B4-BE49-F238E27FC236}">
                <a16:creationId xmlns:a16="http://schemas.microsoft.com/office/drawing/2014/main" id="{185EE918-D7B0-BB66-D330-93B476D66620}"/>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0659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Tech Stack</a:t>
            </a:r>
            <a:endParaRPr lang="en-US" sz="4450" dirty="0"/>
          </a:p>
        </p:txBody>
      </p:sp>
      <p:sp>
        <p:nvSpPr>
          <p:cNvPr id="3" name="Shape 1"/>
          <p:cNvSpPr/>
          <p:nvPr/>
        </p:nvSpPr>
        <p:spPr>
          <a:xfrm>
            <a:off x="793790" y="2355533"/>
            <a:ext cx="13042821" cy="4567476"/>
          </a:xfrm>
          <a:prstGeom prst="roundRect">
            <a:avLst>
              <a:gd name="adj" fmla="val 745"/>
            </a:avLst>
          </a:prstGeom>
          <a:noFill/>
          <a:ln w="7620">
            <a:solidFill>
              <a:srgbClr val="000000">
                <a:alpha val="8000"/>
              </a:srgbClr>
            </a:solidFill>
            <a:prstDash val="solid"/>
          </a:ln>
        </p:spPr>
      </p:sp>
      <p:sp>
        <p:nvSpPr>
          <p:cNvPr id="4" name="Shape 2"/>
          <p:cNvSpPr/>
          <p:nvPr/>
        </p:nvSpPr>
        <p:spPr>
          <a:xfrm>
            <a:off x="801410" y="2363153"/>
            <a:ext cx="13027581" cy="650319"/>
          </a:xfrm>
          <a:prstGeom prst="rect">
            <a:avLst/>
          </a:prstGeom>
          <a:solidFill>
            <a:srgbClr val="FFFFFF">
              <a:alpha val="4000"/>
            </a:srgbClr>
          </a:solidFill>
          <a:ln/>
        </p:spPr>
      </p:sp>
      <p:sp>
        <p:nvSpPr>
          <p:cNvPr id="5" name="Text 3"/>
          <p:cNvSpPr/>
          <p:nvPr/>
        </p:nvSpPr>
        <p:spPr>
          <a:xfrm>
            <a:off x="1028224" y="2506861"/>
            <a:ext cx="6056352" cy="362903"/>
          </a:xfrm>
          <a:prstGeom prst="rect">
            <a:avLst/>
          </a:prstGeom>
          <a:noFill/>
          <a:ln/>
        </p:spPr>
        <p:txBody>
          <a:bodyPr wrap="non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Layer</a:t>
            </a:r>
            <a:endParaRPr lang="en-US" sz="1750" dirty="0"/>
          </a:p>
        </p:txBody>
      </p:sp>
      <p:sp>
        <p:nvSpPr>
          <p:cNvPr id="6" name="Text 4"/>
          <p:cNvSpPr/>
          <p:nvPr/>
        </p:nvSpPr>
        <p:spPr>
          <a:xfrm>
            <a:off x="7545824" y="2506861"/>
            <a:ext cx="6056352" cy="362903"/>
          </a:xfrm>
          <a:prstGeom prst="rect">
            <a:avLst/>
          </a:prstGeom>
          <a:noFill/>
          <a:ln/>
        </p:spPr>
        <p:txBody>
          <a:bodyPr wrap="non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Tool</a:t>
            </a:r>
            <a:endParaRPr lang="en-US" sz="1750" dirty="0"/>
          </a:p>
        </p:txBody>
      </p:sp>
      <p:sp>
        <p:nvSpPr>
          <p:cNvPr id="7" name="Shape 5"/>
          <p:cNvSpPr/>
          <p:nvPr/>
        </p:nvSpPr>
        <p:spPr>
          <a:xfrm>
            <a:off x="801410" y="3013472"/>
            <a:ext cx="13027581" cy="650319"/>
          </a:xfrm>
          <a:prstGeom prst="rect">
            <a:avLst/>
          </a:prstGeom>
          <a:solidFill>
            <a:srgbClr val="000000">
              <a:alpha val="4000"/>
            </a:srgbClr>
          </a:solidFill>
          <a:ln/>
        </p:spPr>
      </p:sp>
      <p:sp>
        <p:nvSpPr>
          <p:cNvPr id="8" name="Text 6"/>
          <p:cNvSpPr/>
          <p:nvPr/>
        </p:nvSpPr>
        <p:spPr>
          <a:xfrm>
            <a:off x="1028224" y="315718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Frontend</a:t>
            </a:r>
            <a:endParaRPr lang="en-US" sz="1750" dirty="0"/>
          </a:p>
        </p:txBody>
      </p:sp>
      <p:sp>
        <p:nvSpPr>
          <p:cNvPr id="9" name="Text 7"/>
          <p:cNvSpPr/>
          <p:nvPr/>
        </p:nvSpPr>
        <p:spPr>
          <a:xfrm>
            <a:off x="7545824" y="315718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React / React Native</a:t>
            </a:r>
            <a:endParaRPr lang="en-US" sz="1750" dirty="0"/>
          </a:p>
        </p:txBody>
      </p:sp>
      <p:sp>
        <p:nvSpPr>
          <p:cNvPr id="10" name="Shape 8"/>
          <p:cNvSpPr/>
          <p:nvPr/>
        </p:nvSpPr>
        <p:spPr>
          <a:xfrm>
            <a:off x="801410" y="3663791"/>
            <a:ext cx="13027581" cy="650319"/>
          </a:xfrm>
          <a:prstGeom prst="rect">
            <a:avLst/>
          </a:prstGeom>
          <a:solidFill>
            <a:srgbClr val="FFFFFF">
              <a:alpha val="4000"/>
            </a:srgbClr>
          </a:solidFill>
          <a:ln/>
        </p:spPr>
      </p:sp>
      <p:sp>
        <p:nvSpPr>
          <p:cNvPr id="11" name="Text 9"/>
          <p:cNvSpPr/>
          <p:nvPr/>
        </p:nvSpPr>
        <p:spPr>
          <a:xfrm>
            <a:off x="1028224" y="380750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Styling</a:t>
            </a:r>
            <a:endParaRPr lang="en-US" sz="1750" dirty="0"/>
          </a:p>
        </p:txBody>
      </p:sp>
      <p:sp>
        <p:nvSpPr>
          <p:cNvPr id="12" name="Text 10"/>
          <p:cNvSpPr/>
          <p:nvPr/>
        </p:nvSpPr>
        <p:spPr>
          <a:xfrm>
            <a:off x="7545824" y="380750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TailwindCSS</a:t>
            </a:r>
            <a:endParaRPr lang="en-US" sz="1750" dirty="0"/>
          </a:p>
        </p:txBody>
      </p:sp>
      <p:sp>
        <p:nvSpPr>
          <p:cNvPr id="13" name="Shape 11"/>
          <p:cNvSpPr/>
          <p:nvPr/>
        </p:nvSpPr>
        <p:spPr>
          <a:xfrm>
            <a:off x="801410" y="4314111"/>
            <a:ext cx="13027581" cy="650319"/>
          </a:xfrm>
          <a:prstGeom prst="rect">
            <a:avLst/>
          </a:prstGeom>
          <a:solidFill>
            <a:srgbClr val="000000">
              <a:alpha val="4000"/>
            </a:srgbClr>
          </a:solidFill>
          <a:ln/>
        </p:spPr>
      </p:sp>
      <p:sp>
        <p:nvSpPr>
          <p:cNvPr id="14" name="Text 12"/>
          <p:cNvSpPr/>
          <p:nvPr/>
        </p:nvSpPr>
        <p:spPr>
          <a:xfrm>
            <a:off x="1028224" y="4457819"/>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Backend</a:t>
            </a:r>
            <a:endParaRPr lang="en-US" sz="1750" dirty="0"/>
          </a:p>
        </p:txBody>
      </p:sp>
      <p:sp>
        <p:nvSpPr>
          <p:cNvPr id="15" name="Text 13"/>
          <p:cNvSpPr/>
          <p:nvPr/>
        </p:nvSpPr>
        <p:spPr>
          <a:xfrm>
            <a:off x="7545824" y="4457819"/>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Python (FastAPI/Flask)</a:t>
            </a:r>
            <a:endParaRPr lang="en-US" sz="1750" dirty="0"/>
          </a:p>
        </p:txBody>
      </p:sp>
      <p:sp>
        <p:nvSpPr>
          <p:cNvPr id="16" name="Shape 14"/>
          <p:cNvSpPr/>
          <p:nvPr/>
        </p:nvSpPr>
        <p:spPr>
          <a:xfrm>
            <a:off x="801410" y="4964430"/>
            <a:ext cx="13027581" cy="650319"/>
          </a:xfrm>
          <a:prstGeom prst="rect">
            <a:avLst/>
          </a:prstGeom>
          <a:solidFill>
            <a:srgbClr val="FFFFFF">
              <a:alpha val="4000"/>
            </a:srgbClr>
          </a:solidFill>
          <a:ln/>
        </p:spPr>
      </p:sp>
      <p:sp>
        <p:nvSpPr>
          <p:cNvPr id="17" name="Text 15"/>
          <p:cNvSpPr/>
          <p:nvPr/>
        </p:nvSpPr>
        <p:spPr>
          <a:xfrm>
            <a:off x="1028224" y="510813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Database</a:t>
            </a:r>
            <a:endParaRPr lang="en-US" sz="1750" dirty="0"/>
          </a:p>
        </p:txBody>
      </p:sp>
      <p:sp>
        <p:nvSpPr>
          <p:cNvPr id="18" name="Text 16"/>
          <p:cNvSpPr/>
          <p:nvPr/>
        </p:nvSpPr>
        <p:spPr>
          <a:xfrm>
            <a:off x="7545824" y="510813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SQLite</a:t>
            </a:r>
            <a:endParaRPr lang="en-US" sz="1750" dirty="0"/>
          </a:p>
        </p:txBody>
      </p:sp>
      <p:sp>
        <p:nvSpPr>
          <p:cNvPr id="19" name="Shape 17"/>
          <p:cNvSpPr/>
          <p:nvPr/>
        </p:nvSpPr>
        <p:spPr>
          <a:xfrm>
            <a:off x="801410" y="5614749"/>
            <a:ext cx="13027581" cy="650319"/>
          </a:xfrm>
          <a:prstGeom prst="rect">
            <a:avLst/>
          </a:prstGeom>
          <a:solidFill>
            <a:srgbClr val="000000">
              <a:alpha val="4000"/>
            </a:srgbClr>
          </a:solidFill>
          <a:ln/>
        </p:spPr>
      </p:sp>
      <p:sp>
        <p:nvSpPr>
          <p:cNvPr id="20" name="Text 18"/>
          <p:cNvSpPr/>
          <p:nvPr/>
        </p:nvSpPr>
        <p:spPr>
          <a:xfrm>
            <a:off x="1028224" y="575845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Storage</a:t>
            </a:r>
            <a:endParaRPr lang="en-US" sz="1750" dirty="0"/>
          </a:p>
        </p:txBody>
      </p:sp>
      <p:sp>
        <p:nvSpPr>
          <p:cNvPr id="21" name="Text 19"/>
          <p:cNvSpPr/>
          <p:nvPr/>
        </p:nvSpPr>
        <p:spPr>
          <a:xfrm>
            <a:off x="7545824" y="575845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Local / Cloud bucket (In Future)</a:t>
            </a:r>
            <a:endParaRPr lang="en-US" sz="1750" dirty="0"/>
          </a:p>
        </p:txBody>
      </p:sp>
      <p:sp>
        <p:nvSpPr>
          <p:cNvPr id="22" name="Shape 20"/>
          <p:cNvSpPr/>
          <p:nvPr/>
        </p:nvSpPr>
        <p:spPr>
          <a:xfrm>
            <a:off x="801410" y="6265069"/>
            <a:ext cx="13027581" cy="650319"/>
          </a:xfrm>
          <a:prstGeom prst="rect">
            <a:avLst/>
          </a:prstGeom>
          <a:solidFill>
            <a:srgbClr val="FFFFFF">
              <a:alpha val="4000"/>
            </a:srgbClr>
          </a:solidFill>
          <a:ln/>
        </p:spPr>
      </p:sp>
      <p:sp>
        <p:nvSpPr>
          <p:cNvPr id="23" name="Text 21"/>
          <p:cNvSpPr/>
          <p:nvPr/>
        </p:nvSpPr>
        <p:spPr>
          <a:xfrm>
            <a:off x="1028224" y="6408777"/>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Hosting</a:t>
            </a:r>
            <a:endParaRPr lang="en-US" sz="1750" dirty="0"/>
          </a:p>
        </p:txBody>
      </p:sp>
      <p:sp>
        <p:nvSpPr>
          <p:cNvPr id="24" name="Text 22"/>
          <p:cNvSpPr/>
          <p:nvPr/>
        </p:nvSpPr>
        <p:spPr>
          <a:xfrm>
            <a:off x="7545824" y="6408777"/>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Render / Vercel</a:t>
            </a:r>
            <a:endParaRPr lang="en-US" sz="1750" dirty="0"/>
          </a:p>
        </p:txBody>
      </p:sp>
      <p:sp>
        <p:nvSpPr>
          <p:cNvPr id="25" name="Rectangle 24">
            <a:extLst>
              <a:ext uri="{FF2B5EF4-FFF2-40B4-BE49-F238E27FC236}">
                <a16:creationId xmlns:a16="http://schemas.microsoft.com/office/drawing/2014/main" id="{B348F7E2-E4C7-E598-8013-F10C65759815}"/>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1404730" y="351183"/>
            <a:ext cx="11290851" cy="7527234"/>
          </a:xfrm>
          <a:prstGeom prst="rect">
            <a:avLst/>
          </a:prstGeom>
        </p:spPr>
      </p:pic>
      <p:sp>
        <p:nvSpPr>
          <p:cNvPr id="4" name="Rectangle 3">
            <a:extLst>
              <a:ext uri="{FF2B5EF4-FFF2-40B4-BE49-F238E27FC236}">
                <a16:creationId xmlns:a16="http://schemas.microsoft.com/office/drawing/2014/main" id="{6DBA447F-BCF6-B6D8-3F11-6B3BEEAB4D6D}"/>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257975" y="2663687"/>
            <a:ext cx="14372425" cy="5102087"/>
          </a:xfrm>
          <a:prstGeom prst="rect">
            <a:avLst/>
          </a:prstGeom>
        </p:spPr>
      </p:pic>
      <p:sp>
        <p:nvSpPr>
          <p:cNvPr id="3" name="Rectangle 2">
            <a:extLst>
              <a:ext uri="{FF2B5EF4-FFF2-40B4-BE49-F238E27FC236}">
                <a16:creationId xmlns:a16="http://schemas.microsoft.com/office/drawing/2014/main" id="{824A3A3C-21B1-1624-AD90-D4A2C7F2D6C2}"/>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 0">
            <a:extLst>
              <a:ext uri="{FF2B5EF4-FFF2-40B4-BE49-F238E27FC236}">
                <a16:creationId xmlns:a16="http://schemas.microsoft.com/office/drawing/2014/main" id="{C157D252-657D-036A-4479-2645A01CD69B}"/>
              </a:ext>
            </a:extLst>
          </p:cNvPr>
          <p:cNvSpPr/>
          <p:nvPr/>
        </p:nvSpPr>
        <p:spPr>
          <a:xfrm>
            <a:off x="3218937" y="1068053"/>
            <a:ext cx="8747775"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Working Flow of </a:t>
            </a:r>
            <a:r>
              <a:rPr lang="en-US" sz="4450" dirty="0" err="1">
                <a:solidFill>
                  <a:srgbClr val="3257B8"/>
                </a:solidFill>
                <a:latin typeface="Roboto Slab" pitchFamily="34" charset="0"/>
                <a:ea typeface="Roboto Slab" pitchFamily="34" charset="-122"/>
                <a:cs typeface="Roboto Slab" pitchFamily="34" charset="-120"/>
              </a:rPr>
              <a:t>ProjectVault</a:t>
            </a:r>
            <a:endParaRPr lang="en-US" sz="4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7956" y="636151"/>
            <a:ext cx="5628918" cy="703659"/>
          </a:xfrm>
          <a:prstGeom prst="rect">
            <a:avLst/>
          </a:prstGeom>
          <a:noFill/>
          <a:ln/>
        </p:spPr>
        <p:txBody>
          <a:bodyPr wrap="none" lIns="0" tIns="0" rIns="0" bIns="0" rtlCol="0" anchor="t"/>
          <a:lstStyle/>
          <a:p>
            <a:pPr marL="0" indent="0" algn="l">
              <a:lnSpc>
                <a:spcPts val="5500"/>
              </a:lnSpc>
              <a:buNone/>
            </a:pPr>
            <a:r>
              <a:rPr lang="en-US" sz="4400" dirty="0">
                <a:solidFill>
                  <a:srgbClr val="3257B8"/>
                </a:solidFill>
                <a:latin typeface="Roboto Slab" pitchFamily="34" charset="0"/>
                <a:ea typeface="Roboto Slab" pitchFamily="34" charset="-122"/>
                <a:cs typeface="Roboto Slab" pitchFamily="34" charset="-120"/>
              </a:rPr>
              <a:t>Comparison Table</a:t>
            </a:r>
            <a:endParaRPr lang="en-US" sz="4400" dirty="0"/>
          </a:p>
        </p:txBody>
      </p:sp>
      <p:sp>
        <p:nvSpPr>
          <p:cNvPr id="3" name="Text 1"/>
          <p:cNvSpPr/>
          <p:nvPr/>
        </p:nvSpPr>
        <p:spPr>
          <a:xfrm>
            <a:off x="787956" y="1786771"/>
            <a:ext cx="1305448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Tabular format showing comparison of ProjectVault vs GitHub, Drive, Notion, etc.</a:t>
            </a:r>
            <a:endParaRPr lang="en-US" sz="1750" dirty="0"/>
          </a:p>
        </p:txBody>
      </p:sp>
      <p:sp>
        <p:nvSpPr>
          <p:cNvPr id="4" name="Shape 2"/>
          <p:cNvSpPr/>
          <p:nvPr/>
        </p:nvSpPr>
        <p:spPr>
          <a:xfrm>
            <a:off x="787956" y="2396966"/>
            <a:ext cx="13054489" cy="4586288"/>
          </a:xfrm>
          <a:prstGeom prst="roundRect">
            <a:avLst>
              <a:gd name="adj" fmla="val 736"/>
            </a:avLst>
          </a:prstGeom>
          <a:noFill/>
          <a:ln w="7620">
            <a:solidFill>
              <a:srgbClr val="000000">
                <a:alpha val="8000"/>
              </a:srgbClr>
            </a:solidFill>
            <a:prstDash val="solid"/>
          </a:ln>
        </p:spPr>
      </p:sp>
      <p:sp>
        <p:nvSpPr>
          <p:cNvPr id="5" name="Shape 3"/>
          <p:cNvSpPr/>
          <p:nvPr/>
        </p:nvSpPr>
        <p:spPr>
          <a:xfrm>
            <a:off x="795576" y="2404586"/>
            <a:ext cx="13039249" cy="642223"/>
          </a:xfrm>
          <a:prstGeom prst="rect">
            <a:avLst/>
          </a:prstGeom>
          <a:solidFill>
            <a:srgbClr val="FFFFFF">
              <a:alpha val="4000"/>
            </a:srgbClr>
          </a:solidFill>
          <a:ln/>
        </p:spPr>
      </p:sp>
      <p:sp>
        <p:nvSpPr>
          <p:cNvPr id="6" name="Text 4"/>
          <p:cNvSpPr/>
          <p:nvPr/>
        </p:nvSpPr>
        <p:spPr>
          <a:xfrm>
            <a:off x="1021199" y="2546271"/>
            <a:ext cx="1632109"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Feature</a:t>
            </a:r>
            <a:endParaRPr lang="en-US" sz="1750" dirty="0"/>
          </a:p>
        </p:txBody>
      </p:sp>
      <p:sp>
        <p:nvSpPr>
          <p:cNvPr id="7" name="Text 5"/>
          <p:cNvSpPr/>
          <p:nvPr/>
        </p:nvSpPr>
        <p:spPr>
          <a:xfrm>
            <a:off x="3111222"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ProjectVault</a:t>
            </a:r>
            <a:endParaRPr lang="en-US" sz="1750" dirty="0"/>
          </a:p>
        </p:txBody>
      </p:sp>
      <p:sp>
        <p:nvSpPr>
          <p:cNvPr id="8" name="Text 6"/>
          <p:cNvSpPr/>
          <p:nvPr/>
        </p:nvSpPr>
        <p:spPr>
          <a:xfrm>
            <a:off x="5327809"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GitHub</a:t>
            </a:r>
            <a:endParaRPr lang="en-US" sz="1750" dirty="0"/>
          </a:p>
        </p:txBody>
      </p:sp>
      <p:sp>
        <p:nvSpPr>
          <p:cNvPr id="9" name="Text 7"/>
          <p:cNvSpPr/>
          <p:nvPr/>
        </p:nvSpPr>
        <p:spPr>
          <a:xfrm>
            <a:off x="7544395"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Drive</a:t>
            </a:r>
            <a:endParaRPr lang="en-US" sz="1750" dirty="0"/>
          </a:p>
        </p:txBody>
      </p:sp>
      <p:sp>
        <p:nvSpPr>
          <p:cNvPr id="10" name="Text 8"/>
          <p:cNvSpPr/>
          <p:nvPr/>
        </p:nvSpPr>
        <p:spPr>
          <a:xfrm>
            <a:off x="9760982"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Notion</a:t>
            </a:r>
            <a:endParaRPr lang="en-US" sz="1750" dirty="0"/>
          </a:p>
        </p:txBody>
      </p:sp>
      <p:sp>
        <p:nvSpPr>
          <p:cNvPr id="11" name="Text 9"/>
          <p:cNvSpPr/>
          <p:nvPr/>
        </p:nvSpPr>
        <p:spPr>
          <a:xfrm>
            <a:off x="11977568" y="2546271"/>
            <a:ext cx="1632109"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ProjectBuddy</a:t>
            </a:r>
            <a:endParaRPr lang="en-US" sz="1750" dirty="0"/>
          </a:p>
        </p:txBody>
      </p:sp>
      <p:sp>
        <p:nvSpPr>
          <p:cNvPr id="12" name="Shape 10"/>
          <p:cNvSpPr/>
          <p:nvPr/>
        </p:nvSpPr>
        <p:spPr>
          <a:xfrm>
            <a:off x="795576" y="3046809"/>
            <a:ext cx="13039249" cy="1001078"/>
          </a:xfrm>
          <a:prstGeom prst="rect">
            <a:avLst/>
          </a:prstGeom>
          <a:solidFill>
            <a:srgbClr val="000000">
              <a:alpha val="4000"/>
            </a:srgbClr>
          </a:solidFill>
          <a:ln/>
        </p:spPr>
      </p:sp>
      <p:sp>
        <p:nvSpPr>
          <p:cNvPr id="13" name="Text 11"/>
          <p:cNvSpPr/>
          <p:nvPr/>
        </p:nvSpPr>
        <p:spPr>
          <a:xfrm>
            <a:off x="1021199" y="3188494"/>
            <a:ext cx="1632109" cy="717709"/>
          </a:xfrm>
          <a:prstGeom prst="rect">
            <a:avLst/>
          </a:prstGeom>
          <a:noFill/>
          <a:ln/>
        </p:spPr>
        <p:txBody>
          <a:bodyPr wrap="squar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Academic Focus</a:t>
            </a:r>
            <a:endParaRPr lang="en-US" sz="1750" dirty="0"/>
          </a:p>
        </p:txBody>
      </p:sp>
      <p:sp>
        <p:nvSpPr>
          <p:cNvPr id="14" name="Text 12"/>
          <p:cNvSpPr/>
          <p:nvPr/>
        </p:nvSpPr>
        <p:spPr>
          <a:xfrm>
            <a:off x="3111222"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5" name="Text 13"/>
          <p:cNvSpPr/>
          <p:nvPr/>
        </p:nvSpPr>
        <p:spPr>
          <a:xfrm>
            <a:off x="5327809"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6" name="Text 14"/>
          <p:cNvSpPr/>
          <p:nvPr/>
        </p:nvSpPr>
        <p:spPr>
          <a:xfrm>
            <a:off x="7544395"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7" name="Text 15"/>
          <p:cNvSpPr/>
          <p:nvPr/>
        </p:nvSpPr>
        <p:spPr>
          <a:xfrm>
            <a:off x="9760982"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8" name="Text 16"/>
          <p:cNvSpPr/>
          <p:nvPr/>
        </p:nvSpPr>
        <p:spPr>
          <a:xfrm>
            <a:off x="11977568" y="3188494"/>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9" name="Shape 17"/>
          <p:cNvSpPr/>
          <p:nvPr/>
        </p:nvSpPr>
        <p:spPr>
          <a:xfrm>
            <a:off x="795576" y="4047887"/>
            <a:ext cx="13039249" cy="642223"/>
          </a:xfrm>
          <a:prstGeom prst="rect">
            <a:avLst/>
          </a:prstGeom>
          <a:solidFill>
            <a:srgbClr val="FFFFFF">
              <a:alpha val="4000"/>
            </a:srgbClr>
          </a:solidFill>
          <a:ln/>
        </p:spPr>
      </p:sp>
      <p:sp>
        <p:nvSpPr>
          <p:cNvPr id="20" name="Text 18"/>
          <p:cNvSpPr/>
          <p:nvPr/>
        </p:nvSpPr>
        <p:spPr>
          <a:xfrm>
            <a:off x="1021199" y="4189571"/>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Visual Timeline</a:t>
            </a:r>
            <a:endParaRPr lang="en-US" sz="1750" dirty="0"/>
          </a:p>
        </p:txBody>
      </p:sp>
      <p:sp>
        <p:nvSpPr>
          <p:cNvPr id="21" name="Text 19"/>
          <p:cNvSpPr/>
          <p:nvPr/>
        </p:nvSpPr>
        <p:spPr>
          <a:xfrm>
            <a:off x="3111222"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2" name="Text 20"/>
          <p:cNvSpPr/>
          <p:nvPr/>
        </p:nvSpPr>
        <p:spPr>
          <a:xfrm>
            <a:off x="5327809"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3" name="Text 21"/>
          <p:cNvSpPr/>
          <p:nvPr/>
        </p:nvSpPr>
        <p:spPr>
          <a:xfrm>
            <a:off x="7544395"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4" name="Text 22"/>
          <p:cNvSpPr/>
          <p:nvPr/>
        </p:nvSpPr>
        <p:spPr>
          <a:xfrm>
            <a:off x="9760982"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5" name="Text 23"/>
          <p:cNvSpPr/>
          <p:nvPr/>
        </p:nvSpPr>
        <p:spPr>
          <a:xfrm>
            <a:off x="11977568" y="4189571"/>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6" name="Shape 24"/>
          <p:cNvSpPr/>
          <p:nvPr/>
        </p:nvSpPr>
        <p:spPr>
          <a:xfrm>
            <a:off x="795576" y="4690110"/>
            <a:ext cx="13039249" cy="642223"/>
          </a:xfrm>
          <a:prstGeom prst="rect">
            <a:avLst/>
          </a:prstGeom>
          <a:solidFill>
            <a:srgbClr val="000000">
              <a:alpha val="4000"/>
            </a:srgbClr>
          </a:solidFill>
          <a:ln/>
        </p:spPr>
      </p:sp>
      <p:sp>
        <p:nvSpPr>
          <p:cNvPr id="27" name="Text 25"/>
          <p:cNvSpPr/>
          <p:nvPr/>
        </p:nvSpPr>
        <p:spPr>
          <a:xfrm>
            <a:off x="1021199" y="4831794"/>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Auto Rollback</a:t>
            </a:r>
            <a:endParaRPr lang="en-US" sz="1750" dirty="0"/>
          </a:p>
        </p:txBody>
      </p:sp>
      <p:sp>
        <p:nvSpPr>
          <p:cNvPr id="28" name="Text 26"/>
          <p:cNvSpPr/>
          <p:nvPr/>
        </p:nvSpPr>
        <p:spPr>
          <a:xfrm>
            <a:off x="3111222"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9" name="Text 27"/>
          <p:cNvSpPr/>
          <p:nvPr/>
        </p:nvSpPr>
        <p:spPr>
          <a:xfrm>
            <a:off x="5327809"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Manual</a:t>
            </a:r>
            <a:endParaRPr lang="en-US" sz="1750" dirty="0"/>
          </a:p>
        </p:txBody>
      </p:sp>
      <p:sp>
        <p:nvSpPr>
          <p:cNvPr id="30" name="Text 28"/>
          <p:cNvSpPr/>
          <p:nvPr/>
        </p:nvSpPr>
        <p:spPr>
          <a:xfrm>
            <a:off x="7544395"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Limited</a:t>
            </a:r>
            <a:endParaRPr lang="en-US" sz="1750" dirty="0"/>
          </a:p>
        </p:txBody>
      </p:sp>
      <p:sp>
        <p:nvSpPr>
          <p:cNvPr id="31" name="Text 29"/>
          <p:cNvSpPr/>
          <p:nvPr/>
        </p:nvSpPr>
        <p:spPr>
          <a:xfrm>
            <a:off x="9760982"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2" name="Text 30"/>
          <p:cNvSpPr/>
          <p:nvPr/>
        </p:nvSpPr>
        <p:spPr>
          <a:xfrm>
            <a:off x="11977568" y="4831794"/>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3" name="Shape 31"/>
          <p:cNvSpPr/>
          <p:nvPr/>
        </p:nvSpPr>
        <p:spPr>
          <a:xfrm>
            <a:off x="795576" y="5332333"/>
            <a:ext cx="13039249" cy="642223"/>
          </a:xfrm>
          <a:prstGeom prst="rect">
            <a:avLst/>
          </a:prstGeom>
          <a:solidFill>
            <a:srgbClr val="FFFFFF">
              <a:alpha val="4000"/>
            </a:srgbClr>
          </a:solidFill>
          <a:ln/>
        </p:spPr>
      </p:sp>
      <p:sp>
        <p:nvSpPr>
          <p:cNvPr id="34" name="Text 32"/>
          <p:cNvSpPr/>
          <p:nvPr/>
        </p:nvSpPr>
        <p:spPr>
          <a:xfrm>
            <a:off x="1021199" y="5474018"/>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Simple UI</a:t>
            </a:r>
            <a:endParaRPr lang="en-US" sz="1750" dirty="0"/>
          </a:p>
        </p:txBody>
      </p:sp>
      <p:sp>
        <p:nvSpPr>
          <p:cNvPr id="35" name="Text 33"/>
          <p:cNvSpPr/>
          <p:nvPr/>
        </p:nvSpPr>
        <p:spPr>
          <a:xfrm>
            <a:off x="3111222"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6" name="Text 34"/>
          <p:cNvSpPr/>
          <p:nvPr/>
        </p:nvSpPr>
        <p:spPr>
          <a:xfrm>
            <a:off x="5327809"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7" name="Text 35"/>
          <p:cNvSpPr/>
          <p:nvPr/>
        </p:nvSpPr>
        <p:spPr>
          <a:xfrm>
            <a:off x="7544395"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8" name="Text 36"/>
          <p:cNvSpPr/>
          <p:nvPr/>
        </p:nvSpPr>
        <p:spPr>
          <a:xfrm>
            <a:off x="9760982"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9" name="Text 37"/>
          <p:cNvSpPr/>
          <p:nvPr/>
        </p:nvSpPr>
        <p:spPr>
          <a:xfrm>
            <a:off x="11977568" y="5474018"/>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0" name="Shape 38"/>
          <p:cNvSpPr/>
          <p:nvPr/>
        </p:nvSpPr>
        <p:spPr>
          <a:xfrm>
            <a:off x="795576" y="5974556"/>
            <a:ext cx="13039249" cy="1001078"/>
          </a:xfrm>
          <a:prstGeom prst="rect">
            <a:avLst/>
          </a:prstGeom>
          <a:solidFill>
            <a:srgbClr val="000000">
              <a:alpha val="4000"/>
            </a:srgbClr>
          </a:solidFill>
          <a:ln/>
        </p:spPr>
      </p:sp>
      <p:sp>
        <p:nvSpPr>
          <p:cNvPr id="41" name="Text 39"/>
          <p:cNvSpPr/>
          <p:nvPr/>
        </p:nvSpPr>
        <p:spPr>
          <a:xfrm>
            <a:off x="1021199" y="6116241"/>
            <a:ext cx="1632109" cy="717709"/>
          </a:xfrm>
          <a:prstGeom prst="rect">
            <a:avLst/>
          </a:prstGeom>
          <a:noFill/>
          <a:ln/>
        </p:spPr>
        <p:txBody>
          <a:bodyPr wrap="squar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Project Versioning</a:t>
            </a:r>
            <a:endParaRPr lang="en-US" sz="1750" dirty="0"/>
          </a:p>
        </p:txBody>
      </p:sp>
      <p:sp>
        <p:nvSpPr>
          <p:cNvPr id="42" name="Text 40"/>
          <p:cNvSpPr/>
          <p:nvPr/>
        </p:nvSpPr>
        <p:spPr>
          <a:xfrm>
            <a:off x="3111222"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3" name="Text 41"/>
          <p:cNvSpPr/>
          <p:nvPr/>
        </p:nvSpPr>
        <p:spPr>
          <a:xfrm>
            <a:off x="5327809"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4" name="Text 42"/>
          <p:cNvSpPr/>
          <p:nvPr/>
        </p:nvSpPr>
        <p:spPr>
          <a:xfrm>
            <a:off x="7544395"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Per-file only</a:t>
            </a:r>
            <a:endParaRPr lang="en-US" sz="1750" dirty="0"/>
          </a:p>
        </p:txBody>
      </p:sp>
      <p:sp>
        <p:nvSpPr>
          <p:cNvPr id="45" name="Text 43"/>
          <p:cNvSpPr/>
          <p:nvPr/>
        </p:nvSpPr>
        <p:spPr>
          <a:xfrm>
            <a:off x="9760982"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6" name="Text 44"/>
          <p:cNvSpPr/>
          <p:nvPr/>
        </p:nvSpPr>
        <p:spPr>
          <a:xfrm>
            <a:off x="11977568" y="6116241"/>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7" name="Text 45"/>
          <p:cNvSpPr/>
          <p:nvPr/>
        </p:nvSpPr>
        <p:spPr>
          <a:xfrm>
            <a:off x="787956" y="7234595"/>
            <a:ext cx="13054489" cy="358854"/>
          </a:xfrm>
          <a:prstGeom prst="rect">
            <a:avLst/>
          </a:prstGeom>
          <a:noFill/>
          <a:ln/>
        </p:spPr>
        <p:txBody>
          <a:bodyPr wrap="none" lIns="0" tIns="0" rIns="0" bIns="0" rtlCol="0" anchor="t"/>
          <a:lstStyle/>
          <a:p>
            <a:pPr marL="0" indent="0" algn="l">
              <a:lnSpc>
                <a:spcPts val="2800"/>
              </a:lnSpc>
              <a:buNone/>
            </a:pPr>
            <a:r>
              <a:rPr lang="en-US" sz="1750" b="1" dirty="0">
                <a:solidFill>
                  <a:srgbClr val="3257B8"/>
                </a:solidFill>
                <a:latin typeface="Roboto" pitchFamily="34" charset="0"/>
                <a:ea typeface="Roboto" pitchFamily="34" charset="-122"/>
                <a:cs typeface="Roboto" pitchFamily="34" charset="-120"/>
              </a:rPr>
              <a:t>Highlight ProjectVault's unique combo of academic focus + visual timeline + auto rollback</a:t>
            </a:r>
            <a:endParaRPr lang="en-US" sz="1750" dirty="0"/>
          </a:p>
        </p:txBody>
      </p:sp>
      <p:sp>
        <p:nvSpPr>
          <p:cNvPr id="48" name="Rectangle 47">
            <a:extLst>
              <a:ext uri="{FF2B5EF4-FFF2-40B4-BE49-F238E27FC236}">
                <a16:creationId xmlns:a16="http://schemas.microsoft.com/office/drawing/2014/main" id="{E66660A7-FBDF-A3D5-15A7-644A715BECE9}"/>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71838"/>
            <a:ext cx="10122575"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Learning Outcomes / Personal Benefit</a:t>
            </a:r>
            <a:endParaRPr lang="en-US" sz="4450" dirty="0"/>
          </a:p>
        </p:txBody>
      </p:sp>
      <p:sp>
        <p:nvSpPr>
          <p:cNvPr id="3" name="Shape 1"/>
          <p:cNvSpPr/>
          <p:nvPr/>
        </p:nvSpPr>
        <p:spPr>
          <a:xfrm>
            <a:off x="793790" y="2534245"/>
            <a:ext cx="6407944" cy="2048351"/>
          </a:xfrm>
          <a:prstGeom prst="roundRect">
            <a:avLst>
              <a:gd name="adj" fmla="val 1661"/>
            </a:avLst>
          </a:prstGeom>
          <a:solidFill>
            <a:srgbClr val="FBFCFE"/>
          </a:solidFill>
          <a:ln w="30480">
            <a:solidFill>
              <a:srgbClr val="CFD2D8"/>
            </a:solidFill>
            <a:prstDash val="solid"/>
          </a:ln>
        </p:spPr>
      </p:sp>
      <p:sp>
        <p:nvSpPr>
          <p:cNvPr id="4" name="Shape 2"/>
          <p:cNvSpPr/>
          <p:nvPr/>
        </p:nvSpPr>
        <p:spPr>
          <a:xfrm>
            <a:off x="824270" y="2564725"/>
            <a:ext cx="6346984" cy="680442"/>
          </a:xfrm>
          <a:prstGeom prst="rect">
            <a:avLst/>
          </a:prstGeom>
          <a:solidFill>
            <a:srgbClr val="E9ECF2"/>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27621" y="2734747"/>
            <a:ext cx="340162" cy="340162"/>
          </a:xfrm>
          <a:prstGeom prst="rect">
            <a:avLst/>
          </a:prstGeom>
        </p:spPr>
      </p:pic>
      <p:sp>
        <p:nvSpPr>
          <p:cNvPr id="6" name="Text 3"/>
          <p:cNvSpPr/>
          <p:nvPr/>
        </p:nvSpPr>
        <p:spPr>
          <a:xfrm>
            <a:off x="1051084" y="3471982"/>
            <a:ext cx="2956441"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Full-Stack Experience</a:t>
            </a:r>
            <a:endParaRPr lang="en-US" sz="2200" dirty="0"/>
          </a:p>
        </p:txBody>
      </p:sp>
      <p:sp>
        <p:nvSpPr>
          <p:cNvPr id="7" name="Text 4"/>
          <p:cNvSpPr/>
          <p:nvPr/>
        </p:nvSpPr>
        <p:spPr>
          <a:xfrm>
            <a:off x="1051084" y="3962400"/>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Full-stack product dev experience</a:t>
            </a:r>
            <a:endParaRPr lang="en-US" sz="1750" dirty="0"/>
          </a:p>
        </p:txBody>
      </p:sp>
      <p:sp>
        <p:nvSpPr>
          <p:cNvPr id="8" name="Shape 5"/>
          <p:cNvSpPr/>
          <p:nvPr/>
        </p:nvSpPr>
        <p:spPr>
          <a:xfrm>
            <a:off x="7428548" y="2534245"/>
            <a:ext cx="6408063" cy="2048351"/>
          </a:xfrm>
          <a:prstGeom prst="roundRect">
            <a:avLst>
              <a:gd name="adj" fmla="val 1661"/>
            </a:avLst>
          </a:prstGeom>
          <a:solidFill>
            <a:srgbClr val="FBFCFE"/>
          </a:solidFill>
          <a:ln w="30480">
            <a:solidFill>
              <a:srgbClr val="CFD2D8"/>
            </a:solidFill>
            <a:prstDash val="solid"/>
          </a:ln>
        </p:spPr>
      </p:sp>
      <p:sp>
        <p:nvSpPr>
          <p:cNvPr id="9" name="Shape 6"/>
          <p:cNvSpPr/>
          <p:nvPr/>
        </p:nvSpPr>
        <p:spPr>
          <a:xfrm>
            <a:off x="7459027" y="2564725"/>
            <a:ext cx="6347103" cy="680442"/>
          </a:xfrm>
          <a:prstGeom prst="rect">
            <a:avLst/>
          </a:prstGeom>
          <a:solidFill>
            <a:srgbClr val="E9ECF2"/>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2498" y="2734747"/>
            <a:ext cx="340162" cy="340162"/>
          </a:xfrm>
          <a:prstGeom prst="rect">
            <a:avLst/>
          </a:prstGeom>
        </p:spPr>
      </p:pic>
      <p:sp>
        <p:nvSpPr>
          <p:cNvPr id="11" name="Text 7"/>
          <p:cNvSpPr/>
          <p:nvPr/>
        </p:nvSpPr>
        <p:spPr>
          <a:xfrm>
            <a:off x="7685842" y="34719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Technical Skills</a:t>
            </a:r>
            <a:endParaRPr lang="en-US" sz="2200" dirty="0"/>
          </a:p>
        </p:txBody>
      </p:sp>
      <p:sp>
        <p:nvSpPr>
          <p:cNvPr id="12" name="Text 8"/>
          <p:cNvSpPr/>
          <p:nvPr/>
        </p:nvSpPr>
        <p:spPr>
          <a:xfrm>
            <a:off x="7685842" y="3962400"/>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Hands-on with backend systems, databases, deployment</a:t>
            </a:r>
            <a:endParaRPr lang="en-US" sz="1750" dirty="0"/>
          </a:p>
        </p:txBody>
      </p:sp>
      <p:sp>
        <p:nvSpPr>
          <p:cNvPr id="13" name="Shape 9"/>
          <p:cNvSpPr/>
          <p:nvPr/>
        </p:nvSpPr>
        <p:spPr>
          <a:xfrm>
            <a:off x="793790" y="4809411"/>
            <a:ext cx="6407944" cy="2048351"/>
          </a:xfrm>
          <a:prstGeom prst="roundRect">
            <a:avLst>
              <a:gd name="adj" fmla="val 1661"/>
            </a:avLst>
          </a:prstGeom>
          <a:solidFill>
            <a:srgbClr val="FBFCFE"/>
          </a:solidFill>
          <a:ln w="30480">
            <a:solidFill>
              <a:srgbClr val="CFD2D8"/>
            </a:solidFill>
            <a:prstDash val="solid"/>
          </a:ln>
        </p:spPr>
      </p:sp>
      <p:sp>
        <p:nvSpPr>
          <p:cNvPr id="14" name="Shape 10"/>
          <p:cNvSpPr/>
          <p:nvPr/>
        </p:nvSpPr>
        <p:spPr>
          <a:xfrm>
            <a:off x="824270" y="4839891"/>
            <a:ext cx="6346984" cy="680442"/>
          </a:xfrm>
          <a:prstGeom prst="rect">
            <a:avLst/>
          </a:prstGeom>
          <a:solidFill>
            <a:srgbClr val="E9ECF2"/>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27621" y="5009912"/>
            <a:ext cx="340162" cy="340162"/>
          </a:xfrm>
          <a:prstGeom prst="rect">
            <a:avLst/>
          </a:prstGeom>
        </p:spPr>
      </p:pic>
      <p:sp>
        <p:nvSpPr>
          <p:cNvPr id="16" name="Text 11"/>
          <p:cNvSpPr/>
          <p:nvPr/>
        </p:nvSpPr>
        <p:spPr>
          <a:xfrm>
            <a:off x="1051084" y="57471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Problem Solving</a:t>
            </a:r>
            <a:endParaRPr lang="en-US" sz="2200" dirty="0"/>
          </a:p>
        </p:txBody>
      </p:sp>
      <p:sp>
        <p:nvSpPr>
          <p:cNvPr id="17" name="Text 12"/>
          <p:cNvSpPr/>
          <p:nvPr/>
        </p:nvSpPr>
        <p:spPr>
          <a:xfrm>
            <a:off x="1051084" y="6237565"/>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Solving a real academic problem = confidence boost</a:t>
            </a:r>
            <a:endParaRPr lang="en-US" sz="1750" dirty="0"/>
          </a:p>
        </p:txBody>
      </p:sp>
      <p:sp>
        <p:nvSpPr>
          <p:cNvPr id="18" name="Shape 13"/>
          <p:cNvSpPr/>
          <p:nvPr/>
        </p:nvSpPr>
        <p:spPr>
          <a:xfrm>
            <a:off x="7428548" y="4809411"/>
            <a:ext cx="6408063" cy="2048351"/>
          </a:xfrm>
          <a:prstGeom prst="roundRect">
            <a:avLst>
              <a:gd name="adj" fmla="val 1661"/>
            </a:avLst>
          </a:prstGeom>
          <a:solidFill>
            <a:srgbClr val="FBFCFE"/>
          </a:solidFill>
          <a:ln w="30480">
            <a:solidFill>
              <a:srgbClr val="CFD2D8"/>
            </a:solidFill>
            <a:prstDash val="solid"/>
          </a:ln>
        </p:spPr>
      </p:sp>
      <p:sp>
        <p:nvSpPr>
          <p:cNvPr id="19" name="Shape 14"/>
          <p:cNvSpPr/>
          <p:nvPr/>
        </p:nvSpPr>
        <p:spPr>
          <a:xfrm>
            <a:off x="7459027" y="4839891"/>
            <a:ext cx="6347103" cy="680442"/>
          </a:xfrm>
          <a:prstGeom prst="rect">
            <a:avLst/>
          </a:prstGeom>
          <a:solidFill>
            <a:srgbClr val="E9ECF2"/>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62498" y="5009912"/>
            <a:ext cx="340162" cy="340162"/>
          </a:xfrm>
          <a:prstGeom prst="rect">
            <a:avLst/>
          </a:prstGeom>
        </p:spPr>
      </p:pic>
      <p:sp>
        <p:nvSpPr>
          <p:cNvPr id="21" name="Text 15"/>
          <p:cNvSpPr/>
          <p:nvPr/>
        </p:nvSpPr>
        <p:spPr>
          <a:xfrm>
            <a:off x="7685842" y="57471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Career Growth</a:t>
            </a:r>
            <a:endParaRPr lang="en-US" sz="2200" dirty="0"/>
          </a:p>
        </p:txBody>
      </p:sp>
      <p:sp>
        <p:nvSpPr>
          <p:cNvPr id="22" name="Text 16"/>
          <p:cNvSpPr/>
          <p:nvPr/>
        </p:nvSpPr>
        <p:spPr>
          <a:xfrm>
            <a:off x="7685842" y="6237565"/>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Great for portfolio + internships + open source exposure</a:t>
            </a:r>
            <a:endParaRPr lang="en-US" sz="1750" dirty="0"/>
          </a:p>
        </p:txBody>
      </p:sp>
      <p:sp>
        <p:nvSpPr>
          <p:cNvPr id="23" name="Rectangle 22">
            <a:extLst>
              <a:ext uri="{FF2B5EF4-FFF2-40B4-BE49-F238E27FC236}">
                <a16:creationId xmlns:a16="http://schemas.microsoft.com/office/drawing/2014/main" id="{0E5A4D95-8D0F-AD67-CFFD-A852D827E645}"/>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2416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Future Scope</a:t>
            </a:r>
            <a:endParaRPr lang="en-US" sz="4450" dirty="0"/>
          </a:p>
        </p:txBody>
      </p:sp>
      <p:sp>
        <p:nvSpPr>
          <p:cNvPr id="3" name="Text 1"/>
          <p:cNvSpPr/>
          <p:nvPr/>
        </p:nvSpPr>
        <p:spPr>
          <a:xfrm>
            <a:off x="793790" y="297311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328154"/>
            <a:ext cx="6407944" cy="30480"/>
          </a:xfrm>
          <a:prstGeom prst="rect">
            <a:avLst/>
          </a:prstGeom>
        </p:spPr>
      </p:pic>
      <p:sp>
        <p:nvSpPr>
          <p:cNvPr id="5" name="Text 2"/>
          <p:cNvSpPr/>
          <p:nvPr/>
        </p:nvSpPr>
        <p:spPr>
          <a:xfrm>
            <a:off x="793790" y="35024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Instructor Portal</a:t>
            </a:r>
            <a:endParaRPr lang="en-US" sz="2200" dirty="0"/>
          </a:p>
        </p:txBody>
      </p:sp>
      <p:sp>
        <p:nvSpPr>
          <p:cNvPr id="6" name="Text 3"/>
          <p:cNvSpPr/>
          <p:nvPr/>
        </p:nvSpPr>
        <p:spPr>
          <a:xfrm>
            <a:off x="793790" y="3992880"/>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Instructor portal for version-based grading</a:t>
            </a:r>
            <a:endParaRPr lang="en-US" sz="1750" dirty="0"/>
          </a:p>
        </p:txBody>
      </p:sp>
      <p:sp>
        <p:nvSpPr>
          <p:cNvPr id="7" name="Text 4"/>
          <p:cNvSpPr/>
          <p:nvPr/>
        </p:nvSpPr>
        <p:spPr>
          <a:xfrm>
            <a:off x="7428548" y="297311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3328154"/>
            <a:ext cx="6408063" cy="30480"/>
          </a:xfrm>
          <a:prstGeom prst="rect">
            <a:avLst/>
          </a:prstGeom>
        </p:spPr>
      </p:pic>
      <p:sp>
        <p:nvSpPr>
          <p:cNvPr id="9" name="Text 5"/>
          <p:cNvSpPr/>
          <p:nvPr/>
        </p:nvSpPr>
        <p:spPr>
          <a:xfrm>
            <a:off x="7428548" y="3502462"/>
            <a:ext cx="3009781"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Collaboration Features</a:t>
            </a:r>
            <a:endParaRPr lang="en-US" sz="2200" dirty="0"/>
          </a:p>
        </p:txBody>
      </p:sp>
      <p:sp>
        <p:nvSpPr>
          <p:cNvPr id="10" name="Text 6"/>
          <p:cNvSpPr/>
          <p:nvPr/>
        </p:nvSpPr>
        <p:spPr>
          <a:xfrm>
            <a:off x="7428548" y="3992880"/>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Commenting &amp; collaboration within versions</a:t>
            </a:r>
            <a:endParaRPr lang="en-US" sz="1750" dirty="0"/>
          </a:p>
        </p:txBody>
      </p:sp>
      <p:sp>
        <p:nvSpPr>
          <p:cNvPr id="11" name="Text 7"/>
          <p:cNvSpPr/>
          <p:nvPr/>
        </p:nvSpPr>
        <p:spPr>
          <a:xfrm>
            <a:off x="793790" y="47526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5085040"/>
            <a:ext cx="6407944" cy="30480"/>
          </a:xfrm>
          <a:prstGeom prst="rect">
            <a:avLst/>
          </a:prstGeom>
        </p:spPr>
      </p:pic>
      <p:sp>
        <p:nvSpPr>
          <p:cNvPr id="13" name="Text 8"/>
          <p:cNvSpPr/>
          <p:nvPr/>
        </p:nvSpPr>
        <p:spPr>
          <a:xfrm>
            <a:off x="793790" y="52819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LMS Integration</a:t>
            </a:r>
            <a:endParaRPr lang="en-US" sz="2200" dirty="0"/>
          </a:p>
        </p:txBody>
      </p:sp>
      <p:sp>
        <p:nvSpPr>
          <p:cNvPr id="14" name="Text 9"/>
          <p:cNvSpPr/>
          <p:nvPr/>
        </p:nvSpPr>
        <p:spPr>
          <a:xfrm>
            <a:off x="793790" y="577238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LMS plugins for Canvas/Moodle integration</a:t>
            </a:r>
            <a:endParaRPr lang="en-US" sz="1750" dirty="0"/>
          </a:p>
        </p:txBody>
      </p:sp>
      <p:sp>
        <p:nvSpPr>
          <p:cNvPr id="15" name="Text 10"/>
          <p:cNvSpPr/>
          <p:nvPr/>
        </p:nvSpPr>
        <p:spPr>
          <a:xfrm>
            <a:off x="7428548" y="47526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5085040"/>
            <a:ext cx="6408063" cy="30480"/>
          </a:xfrm>
          <a:prstGeom prst="rect">
            <a:avLst/>
          </a:prstGeom>
        </p:spPr>
      </p:pic>
      <p:sp>
        <p:nvSpPr>
          <p:cNvPr id="17" name="Text 11"/>
          <p:cNvSpPr/>
          <p:nvPr/>
        </p:nvSpPr>
        <p:spPr>
          <a:xfrm>
            <a:off x="7428548" y="52819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Public Profiles</a:t>
            </a:r>
            <a:endParaRPr lang="en-US" sz="2200" dirty="0"/>
          </a:p>
        </p:txBody>
      </p:sp>
      <p:sp>
        <p:nvSpPr>
          <p:cNvPr id="18" name="Text 12"/>
          <p:cNvSpPr/>
          <p:nvPr/>
        </p:nvSpPr>
        <p:spPr>
          <a:xfrm>
            <a:off x="7428548" y="5772388"/>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Public project profiles (academic GitHub style)</a:t>
            </a:r>
            <a:endParaRPr lang="en-US" sz="1750" dirty="0"/>
          </a:p>
        </p:txBody>
      </p:sp>
      <p:sp>
        <p:nvSpPr>
          <p:cNvPr id="19" name="Rectangle 18">
            <a:extLst>
              <a:ext uri="{FF2B5EF4-FFF2-40B4-BE49-F238E27FC236}">
                <a16:creationId xmlns:a16="http://schemas.microsoft.com/office/drawing/2014/main" id="{F33E3847-2C5A-22DD-9FE9-07B1F11936A4}"/>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22658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Conclusion</a:t>
            </a:r>
            <a:endParaRPr lang="en-US" sz="4450" dirty="0"/>
          </a:p>
        </p:txBody>
      </p:sp>
      <p:sp>
        <p:nvSpPr>
          <p:cNvPr id="3" name="Text 1"/>
          <p:cNvSpPr/>
          <p:nvPr/>
        </p:nvSpPr>
        <p:spPr>
          <a:xfrm>
            <a:off x="1133951" y="3530679"/>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ProjectVault is the missing link in academic project workflows offering Git-like control with Google Drive-like simplicity.</a:t>
            </a:r>
            <a:endParaRPr lang="en-US" sz="1750" dirty="0"/>
          </a:p>
        </p:txBody>
      </p:sp>
      <p:sp>
        <p:nvSpPr>
          <p:cNvPr id="4" name="Text 2"/>
          <p:cNvSpPr/>
          <p:nvPr/>
        </p:nvSpPr>
        <p:spPr>
          <a:xfrm>
            <a:off x="1133951" y="4148733"/>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It eliminates version confusion, prevents data loss, and streamlines collaboration.</a:t>
            </a:r>
            <a:endParaRPr lang="en-US" sz="1750" dirty="0"/>
          </a:p>
        </p:txBody>
      </p:sp>
      <p:sp>
        <p:nvSpPr>
          <p:cNvPr id="5" name="Text 3"/>
          <p:cNvSpPr/>
          <p:nvPr/>
        </p:nvSpPr>
        <p:spPr>
          <a:xfrm>
            <a:off x="1133951" y="4766786"/>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Our system brings together the best aspects of file tracking, rollback, and version visualization tailored to academia.</a:t>
            </a:r>
            <a:endParaRPr lang="en-US" sz="1750" dirty="0"/>
          </a:p>
        </p:txBody>
      </p:sp>
      <p:sp>
        <p:nvSpPr>
          <p:cNvPr id="6" name="Text 4"/>
          <p:cNvSpPr/>
          <p:nvPr/>
        </p:nvSpPr>
        <p:spPr>
          <a:xfrm>
            <a:off x="1133951" y="5384840"/>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We’re confident ProjectVault can be adopted by students, teams, and academic institutions at scale.</a:t>
            </a:r>
            <a:endParaRPr lang="en-US" sz="1750" dirty="0"/>
          </a:p>
        </p:txBody>
      </p:sp>
      <p:sp>
        <p:nvSpPr>
          <p:cNvPr id="7" name="Shape 5"/>
          <p:cNvSpPr/>
          <p:nvPr/>
        </p:nvSpPr>
        <p:spPr>
          <a:xfrm>
            <a:off x="793790" y="3275528"/>
            <a:ext cx="30480" cy="2727365"/>
          </a:xfrm>
          <a:prstGeom prst="rect">
            <a:avLst/>
          </a:prstGeom>
          <a:solidFill>
            <a:srgbClr val="3257B8"/>
          </a:solidFill>
          <a:ln/>
        </p:spPr>
      </p:sp>
      <p:sp>
        <p:nvSpPr>
          <p:cNvPr id="8" name="Rectangle 7">
            <a:extLst>
              <a:ext uri="{FF2B5EF4-FFF2-40B4-BE49-F238E27FC236}">
                <a16:creationId xmlns:a16="http://schemas.microsoft.com/office/drawing/2014/main" id="{27DF2BDF-65E4-4665-6777-DDF405D87D08}"/>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779</Words>
  <Application>Microsoft Office PowerPoint</Application>
  <PresentationFormat>Custom</PresentationFormat>
  <Paragraphs>181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Roboto Slab Light</vt:lpstr>
      <vt:lpstr>Roboto Slab</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NITIN KUMAR</cp:lastModifiedBy>
  <cp:revision>7</cp:revision>
  <dcterms:created xsi:type="dcterms:W3CDTF">2026-02-07T05:34:48Z</dcterms:created>
  <dcterms:modified xsi:type="dcterms:W3CDTF">2026-02-11T04:36:29Z</dcterms:modified>
</cp:coreProperties>
</file>